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Vetry Shaji, enrollment number 942476, from Chinmaya Vishwa Vidyapeeth. Today I'm presenting my second project from my summer internship at IICT — an AI-driven phishing email detection system using Natural Language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I'll cover today. I'll start with the problem and our objective, then walk through the dataset, methodology, and results. I'll end with a critical discussion of limitations I discovered, followed by a recommendation for real-world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is a massive global threat — an estimated 3.4 billion phishing emails are sent every day. Traditional rule-based filters can't keep up because attackers constantly evolve their language. Our objective was to build a machine learning system that learns the patterns of phishing language directly from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 large public dataset combining six well-known email corpora, totaling over 82,000 labelled emails after cleaning. The class distribution is nearly balanced — about 52% phishing and 48% legitimate — so I didn't need to apply any resampling techniques. I chose this dataset over smaller alternatives because it brings together phishing samples from multiple sources, which supports better model generalisation.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pipeline followed five stages. After light cleaning to remove length outliers, I used TF-IDF vectorisation to convert email text into 5,000 numeric features per email — this captures both single words and word pairs. I split the data 80/20 with stratified sampling to preserve class balance, then trained all four models on the identical feature matrix so the comparison would be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primary feature representation was TF-IDF, which weights words higher if they're frequent in a specific email but rare across the whole corpus — this is ideal for surfacing suspicious language. I used unigrams and bigrams to capture two-word phrases like "click here" or "verify account." I also computed a suspicious-keyword count as an exploratory feature — phishing emails average 6.52 suspicious keywords versus 3.61 for legitimate emails, an 1.8× difference that confirms these tokens carry real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four classifiers to represent a range of complexity and modelling assumptions. Three are parametric — Logistic Regression, Naive Bayes, and the Neural Network — meaning they assume a fixed functional form. Random Forest is non-parametric — it lets model complexity grow with the data. This gives us a meaningful parametric versus non-parametric comparison as required by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models scored above 0.95 on F1, which shows TF-IDF is a strong feature representation for this task. The Neural Network took the top spot on three metrics — accuracy, precision, and F1. But look at recall: Random Forest wins with 0.9894, meaning it catches the most phishing emails. Naive Bayes trailed significantly on recall, missing about 7% of all phishing — which we'll see becomes the deciding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the metrics tell only half the story. In cybersecurity, a false negative — a phishing email that slipped through — is far more costly than a false positive, which just goes to quarantine. Look at absolute counts. Random Forest missed only 91 phishing emails. Logistic Regression missed 122. Neural Network missed 140. Naive Bayes missed a huge 637 — that's why despite decent aggregate metrics, it's not viable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my most important findings — and one that made me look harder at what the model actually learned. When I extracted Random Forest's feature importance, I found the top features include tokens like "enron," "aug 2008," and "mailing list" — none of which are phishing indicators. They're just markers of which source corpus an email came from. Only later in the list do we see genuine phishing signals like "money," "click," "account," and "http." This is a form of source leakage: because phishing and legitimate emails came from disjoint sources, the model can shortcut its way to correct answers by learning the source rather than the actual phishing signal. This is an honest limitation of the study that should shape how we interpret the high accuracy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four models fall into two groups. Three are parametric — they assume a fixed structure. Random Forest is the only non-parametric one — it lets model complexity grow with the data. The parametric group achieved excellent precision, but Random Forest, being free of those assumptions, achieved the highest recall — 0.9894. It picked up phishing patterns the linear models couldn't. This is exactly the trade-off you'd expect: parametric models are more efficient and interpretable; non-parametric models are more flexible at fitting complex decision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for production deployment is Random Forest. It missed 33% fewer phishing emails than Logistic Regression and 35% fewer than the Neural Network. In the security context, where a false negative can lead to a real breach, that difference matters far more than a marginal edge in overall F1. Logistic Regression would be a strong secondary choice if training speed or interpretability is a priority. Naive Bayes is not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what could be better is as important as celebrating what worked. The biggest limitation is source leakage in the feature importance — cross-domain evaluation is essential. The dataset arrived pre-cleaned, which prevented me from engineering structural features like URL counts. Future work would include k-fold cross-validation, a transformer baseline like DistilBERT, and building a live web interface with Streamlit.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I built and compared four machine learning models for phishing email detection. All exceeded 0.95 F1, but Random Forest stands out for deployment because it missed the fewest phishing emails. I also uncovered an honest limitation — source leakage in the feature importance — that shapes how much we can trust these numbers to generalise beyond this dataset. Thank you for listening.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0" y="2377440"/>
            <a:ext cx="12188952" cy="54864"/>
          </a:xfrm>
          <a:prstGeom prst="rect">
            <a:avLst/>
          </a:prstGeom>
          <a:solidFill>
            <a:srgbClr val="E63946"/>
          </a:solidFill>
          <a:ln/>
        </p:spPr>
      </p:sp>
      <p:sp>
        <p:nvSpPr>
          <p:cNvPr id="3" name="Shape 1"/>
          <p:cNvSpPr/>
          <p:nvPr/>
        </p:nvSpPr>
        <p:spPr>
          <a:xfrm>
            <a:off x="0" y="4480560"/>
            <a:ext cx="12188952" cy="54864"/>
          </a:xfrm>
          <a:prstGeom prst="rect">
            <a:avLst/>
          </a:prstGeom>
          <a:solidFill>
            <a:srgbClr val="2A9D8F"/>
          </a:solidFill>
          <a:ln/>
        </p:spPr>
      </p:sp>
      <p:sp>
        <p:nvSpPr>
          <p:cNvPr id="4" name="Text 2"/>
          <p:cNvSpPr/>
          <p:nvPr/>
        </p:nvSpPr>
        <p:spPr>
          <a:xfrm>
            <a:off x="640080" y="2606040"/>
            <a:ext cx="10972800" cy="365760"/>
          </a:xfrm>
          <a:prstGeom prst="rect">
            <a:avLst/>
          </a:prstGeom>
          <a:noFill/>
          <a:ln/>
        </p:spPr>
        <p:txBody>
          <a:bodyPr wrap="square" rtlCol="0" anchor="ctr"/>
          <a:lstStyle/>
          <a:p>
            <a:pPr algn="l" indent="0" marL="0">
              <a:buNone/>
            </a:pPr>
            <a:r>
              <a:rPr lang="en-US" sz="1400" b="1" spc="800" kern="0" dirty="0">
                <a:solidFill>
                  <a:srgbClr val="E63946"/>
                </a:solidFill>
                <a:latin typeface="Calibri" pitchFamily="34" charset="0"/>
                <a:ea typeface="Calibri" pitchFamily="34" charset="-122"/>
                <a:cs typeface="Calibri" pitchFamily="34" charset="-120"/>
              </a:rPr>
              <a:t>IICT INTERNSHIP  |  PROJECT 2</a:t>
            </a:r>
            <a:endParaRPr lang="en-US" sz="1400" dirty="0"/>
          </a:p>
        </p:txBody>
      </p:sp>
      <p:sp>
        <p:nvSpPr>
          <p:cNvPr id="5" name="Text 3"/>
          <p:cNvSpPr/>
          <p:nvPr/>
        </p:nvSpPr>
        <p:spPr>
          <a:xfrm>
            <a:off x="640080" y="2971800"/>
            <a:ext cx="10972800" cy="822960"/>
          </a:xfrm>
          <a:prstGeom prst="rect">
            <a:avLst/>
          </a:prstGeom>
          <a:noFill/>
          <a:ln/>
        </p:spPr>
        <p:txBody>
          <a:bodyPr wrap="square"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AI-Driven Phishing Email Detection</a:t>
            </a:r>
            <a:endParaRPr lang="en-US" sz="4400" dirty="0"/>
          </a:p>
        </p:txBody>
      </p:sp>
      <p:sp>
        <p:nvSpPr>
          <p:cNvPr id="6" name="Text 4"/>
          <p:cNvSpPr/>
          <p:nvPr/>
        </p:nvSpPr>
        <p:spPr>
          <a:xfrm>
            <a:off x="640080" y="3703320"/>
            <a:ext cx="10972800" cy="640080"/>
          </a:xfrm>
          <a:prstGeom prst="rect">
            <a:avLst/>
          </a:prstGeom>
          <a:noFill/>
          <a:ln/>
        </p:spPr>
        <p:txBody>
          <a:bodyPr wrap="square" rtlCol="0" anchor="ctr"/>
          <a:lstStyle/>
          <a:p>
            <a:pPr algn="l" indent="0" marL="0">
              <a:buNone/>
            </a:pPr>
            <a:r>
              <a:rPr lang="en-US" sz="3000" i="1" dirty="0">
                <a:solidFill>
                  <a:srgbClr val="CADCFC"/>
                </a:solidFill>
                <a:latin typeface="Cambria" pitchFamily="34" charset="0"/>
                <a:ea typeface="Cambria" pitchFamily="34" charset="-122"/>
                <a:cs typeface="Cambria" pitchFamily="34" charset="-120"/>
              </a:rPr>
              <a:t>Using Natural Language Processing</a:t>
            </a:r>
            <a:endParaRPr lang="en-US" sz="3000" dirty="0"/>
          </a:p>
        </p:txBody>
      </p:sp>
      <p:sp>
        <p:nvSpPr>
          <p:cNvPr id="7" name="Text 5"/>
          <p:cNvSpPr/>
          <p:nvPr/>
        </p:nvSpPr>
        <p:spPr>
          <a:xfrm>
            <a:off x="640080" y="4709160"/>
            <a:ext cx="10972800" cy="457200"/>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Vetry Shaji</a:t>
            </a:r>
            <a:endParaRPr lang="en-US" sz="2200" dirty="0"/>
          </a:p>
        </p:txBody>
      </p:sp>
      <p:sp>
        <p:nvSpPr>
          <p:cNvPr id="8" name="Text 6"/>
          <p:cNvSpPr/>
          <p:nvPr/>
        </p:nvSpPr>
        <p:spPr>
          <a:xfrm>
            <a:off x="640080" y="5120640"/>
            <a:ext cx="10972800" cy="1097280"/>
          </a:xfrm>
          <a:prstGeom prst="rect">
            <a:avLst/>
          </a:prstGeom>
          <a:noFill/>
          <a:ln/>
        </p:spPr>
        <p:txBody>
          <a:bodyPr wrap="square" rtlCol="0" anchor="ctr"/>
          <a:lstStyle/>
          <a:p>
            <a:pPr algn="l" indent="0" marL="0">
              <a:buNone/>
            </a:pPr>
            <a:r>
              <a:rPr lang="en-US" sz="1400" dirty="0">
                <a:solidFill>
                  <a:srgbClr val="CADCFC"/>
                </a:solidFill>
                <a:latin typeface="Calibri" pitchFamily="34" charset="0"/>
                <a:ea typeface="Calibri" pitchFamily="34" charset="-122"/>
                <a:cs typeface="Calibri" pitchFamily="34" charset="-120"/>
              </a:rPr>
              <a:t>Enrollment No: 942476</a:t>
            </a:r>
            <a:endParaRPr lang="en-US" sz="1400" dirty="0"/>
          </a:p>
          <a:p>
            <a:pPr algn="l" indent="0" marL="0">
              <a:buNone/>
            </a:pPr>
            <a:r>
              <a:rPr lang="en-US" sz="1400" dirty="0">
                <a:solidFill>
                  <a:srgbClr val="CADCFC"/>
                </a:solidFill>
                <a:latin typeface="Calibri" pitchFamily="34" charset="0"/>
                <a:ea typeface="Calibri" pitchFamily="34" charset="-122"/>
                <a:cs typeface="Calibri" pitchFamily="34" charset="-120"/>
              </a:rPr>
              <a:t>Chinmaya Vishwa Vidyapeeth</a:t>
            </a:r>
            <a:endParaRPr lang="en-US" sz="1400" dirty="0"/>
          </a:p>
          <a:p>
            <a:pPr algn="l" indent="0" marL="0">
              <a:buNone/>
            </a:pPr>
            <a:r>
              <a:rPr lang="en-US" sz="1400" dirty="0">
                <a:solidFill>
                  <a:srgbClr val="CADCFC"/>
                </a:solidFill>
                <a:latin typeface="Calibri" pitchFamily="34" charset="0"/>
                <a:ea typeface="Calibri" pitchFamily="34" charset="-122"/>
                <a:cs typeface="Calibri" pitchFamily="34" charset="-120"/>
              </a:rPr>
              <a:t>Summer Internship — Indian Institute of Computing and Technology (IICT)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109728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Agenda</a:t>
            </a:r>
            <a:endParaRPr lang="en-US" sz="2600" dirty="0"/>
          </a:p>
        </p:txBody>
      </p:sp>
      <p:sp>
        <p:nvSpPr>
          <p:cNvPr id="3" name="Shape 1"/>
          <p:cNvSpPr/>
          <p:nvPr/>
        </p:nvSpPr>
        <p:spPr>
          <a:xfrm>
            <a:off x="457200" y="1051560"/>
            <a:ext cx="11247120" cy="0"/>
          </a:xfrm>
          <a:prstGeom prst="line">
            <a:avLst/>
          </a:prstGeom>
          <a:noFill/>
          <a:ln w="12700">
            <a:solidFill>
              <a:srgbClr val="DEE2E6"/>
            </a:solidFill>
            <a:prstDash val="solid"/>
          </a:ln>
        </p:spPr>
      </p:sp>
      <p:sp>
        <p:nvSpPr>
          <p:cNvPr id="4" name="Shape 2"/>
          <p:cNvSpPr/>
          <p:nvPr/>
        </p:nvSpPr>
        <p:spPr>
          <a:xfrm>
            <a:off x="914400" y="1490472"/>
            <a:ext cx="502920" cy="502920"/>
          </a:xfrm>
          <a:prstGeom prst="ellipse">
            <a:avLst/>
          </a:prstGeom>
          <a:solidFill>
            <a:srgbClr val="0F2942"/>
          </a:solidFill>
          <a:ln/>
        </p:spPr>
      </p:sp>
      <p:sp>
        <p:nvSpPr>
          <p:cNvPr id="5" name="Text 3"/>
          <p:cNvSpPr/>
          <p:nvPr/>
        </p:nvSpPr>
        <p:spPr>
          <a:xfrm>
            <a:off x="914400" y="1490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691640" y="1417320"/>
            <a:ext cx="4114800" cy="365760"/>
          </a:xfrm>
          <a:prstGeom prst="rect">
            <a:avLst/>
          </a:prstGeom>
          <a:noFill/>
          <a:ln/>
        </p:spPr>
        <p:txBody>
          <a:bodyPr wrap="square" lIns="0" tIns="0" rIns="0" bIns="0" rtlCol="0" anchor="ctr"/>
          <a:lstStyle/>
          <a:p>
            <a:pPr algn="l" indent="0" marL="0">
              <a:buNone/>
            </a:pPr>
            <a:r>
              <a:rPr lang="en-US" sz="2000" b="1" dirty="0">
                <a:solidFill>
                  <a:srgbClr val="1D3557"/>
                </a:solidFill>
                <a:latin typeface="Cambria" pitchFamily="34" charset="0"/>
                <a:ea typeface="Cambria" pitchFamily="34" charset="-122"/>
                <a:cs typeface="Cambria" pitchFamily="34" charset="-120"/>
              </a:rPr>
              <a:t>Problem &amp; Objective</a:t>
            </a:r>
            <a:endParaRPr lang="en-US" sz="2000" dirty="0"/>
          </a:p>
        </p:txBody>
      </p:sp>
      <p:sp>
        <p:nvSpPr>
          <p:cNvPr id="7" name="Text 5"/>
          <p:cNvSpPr/>
          <p:nvPr/>
        </p:nvSpPr>
        <p:spPr>
          <a:xfrm>
            <a:off x="1691640" y="1764792"/>
            <a:ext cx="9601200" cy="320040"/>
          </a:xfrm>
          <a:prstGeom prst="rect">
            <a:avLst/>
          </a:prstGeom>
          <a:noFill/>
          <a:ln/>
        </p:spPr>
        <p:txBody>
          <a:bodyPr wrap="square" lIns="0" tIns="0" rIns="0" bIns="0" rtlCol="0" anchor="ctr"/>
          <a:lstStyle/>
          <a:p>
            <a:pPr algn="l" indent="0" marL="0">
              <a:buNone/>
            </a:pPr>
            <a:r>
              <a:rPr lang="en-US" sz="1300" dirty="0">
                <a:solidFill>
                  <a:srgbClr val="6C757D"/>
                </a:solidFill>
                <a:latin typeface="Calibri" pitchFamily="34" charset="0"/>
                <a:ea typeface="Calibri" pitchFamily="34" charset="-122"/>
                <a:cs typeface="Calibri" pitchFamily="34" charset="-120"/>
              </a:rPr>
              <a:t>The phishing threat and what we set out to build</a:t>
            </a:r>
            <a:endParaRPr lang="en-US" sz="1300" dirty="0"/>
          </a:p>
        </p:txBody>
      </p:sp>
      <p:sp>
        <p:nvSpPr>
          <p:cNvPr id="8" name="Shape 6"/>
          <p:cNvSpPr/>
          <p:nvPr/>
        </p:nvSpPr>
        <p:spPr>
          <a:xfrm>
            <a:off x="914400" y="2240280"/>
            <a:ext cx="502920" cy="502920"/>
          </a:xfrm>
          <a:prstGeom prst="ellipse">
            <a:avLst/>
          </a:prstGeom>
          <a:solidFill>
            <a:srgbClr val="0F2942"/>
          </a:solidFill>
          <a:ln/>
        </p:spPr>
      </p:sp>
      <p:sp>
        <p:nvSpPr>
          <p:cNvPr id="9" name="Text 7"/>
          <p:cNvSpPr/>
          <p:nvPr/>
        </p:nvSpPr>
        <p:spPr>
          <a:xfrm>
            <a:off x="914400" y="2240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691640" y="2167128"/>
            <a:ext cx="4114800" cy="365760"/>
          </a:xfrm>
          <a:prstGeom prst="rect">
            <a:avLst/>
          </a:prstGeom>
          <a:noFill/>
          <a:ln/>
        </p:spPr>
        <p:txBody>
          <a:bodyPr wrap="square" lIns="0" tIns="0" rIns="0" bIns="0" rtlCol="0" anchor="ctr"/>
          <a:lstStyle/>
          <a:p>
            <a:pPr algn="l" indent="0" marL="0">
              <a:buNone/>
            </a:pPr>
            <a:r>
              <a:rPr lang="en-US" sz="2000" b="1" dirty="0">
                <a:solidFill>
                  <a:srgbClr val="1D3557"/>
                </a:solidFill>
                <a:latin typeface="Cambria" pitchFamily="34" charset="0"/>
                <a:ea typeface="Cambria" pitchFamily="34" charset="-122"/>
                <a:cs typeface="Cambria" pitchFamily="34" charset="-120"/>
              </a:rPr>
              <a:t>Dataset</a:t>
            </a:r>
            <a:endParaRPr lang="en-US" sz="2000" dirty="0"/>
          </a:p>
        </p:txBody>
      </p:sp>
      <p:sp>
        <p:nvSpPr>
          <p:cNvPr id="11" name="Text 9"/>
          <p:cNvSpPr/>
          <p:nvPr/>
        </p:nvSpPr>
        <p:spPr>
          <a:xfrm>
            <a:off x="1691640" y="2514600"/>
            <a:ext cx="9601200" cy="320040"/>
          </a:xfrm>
          <a:prstGeom prst="rect">
            <a:avLst/>
          </a:prstGeom>
          <a:noFill/>
          <a:ln/>
        </p:spPr>
        <p:txBody>
          <a:bodyPr wrap="square" lIns="0" tIns="0" rIns="0" bIns="0" rtlCol="0" anchor="ctr"/>
          <a:lstStyle/>
          <a:p>
            <a:pPr algn="l" indent="0" marL="0">
              <a:buNone/>
            </a:pPr>
            <a:r>
              <a:rPr lang="en-US" sz="1300" dirty="0">
                <a:solidFill>
                  <a:srgbClr val="6C757D"/>
                </a:solidFill>
                <a:latin typeface="Calibri" pitchFamily="34" charset="0"/>
                <a:ea typeface="Calibri" pitchFamily="34" charset="-122"/>
                <a:cs typeface="Calibri" pitchFamily="34" charset="-120"/>
              </a:rPr>
              <a:t>82,000+ emails from six benchmark corpora</a:t>
            </a:r>
            <a:endParaRPr lang="en-US" sz="1300" dirty="0"/>
          </a:p>
        </p:txBody>
      </p:sp>
      <p:sp>
        <p:nvSpPr>
          <p:cNvPr id="12" name="Shape 10"/>
          <p:cNvSpPr/>
          <p:nvPr/>
        </p:nvSpPr>
        <p:spPr>
          <a:xfrm>
            <a:off x="914400" y="2990088"/>
            <a:ext cx="502920" cy="502920"/>
          </a:xfrm>
          <a:prstGeom prst="ellipse">
            <a:avLst/>
          </a:prstGeom>
          <a:solidFill>
            <a:srgbClr val="0F2942"/>
          </a:solidFill>
          <a:ln/>
        </p:spPr>
      </p:sp>
      <p:sp>
        <p:nvSpPr>
          <p:cNvPr id="13" name="Text 11"/>
          <p:cNvSpPr/>
          <p:nvPr/>
        </p:nvSpPr>
        <p:spPr>
          <a:xfrm>
            <a:off x="914400" y="29900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691640" y="2916936"/>
            <a:ext cx="4114800" cy="365760"/>
          </a:xfrm>
          <a:prstGeom prst="rect">
            <a:avLst/>
          </a:prstGeom>
          <a:noFill/>
          <a:ln/>
        </p:spPr>
        <p:txBody>
          <a:bodyPr wrap="square" lIns="0" tIns="0" rIns="0" bIns="0" rtlCol="0" anchor="ctr"/>
          <a:lstStyle/>
          <a:p>
            <a:pPr algn="l" indent="0" marL="0">
              <a:buNone/>
            </a:pPr>
            <a:r>
              <a:rPr lang="en-US" sz="2000" b="1" dirty="0">
                <a:solidFill>
                  <a:srgbClr val="1D3557"/>
                </a:solidFill>
                <a:latin typeface="Cambria" pitchFamily="34" charset="0"/>
                <a:ea typeface="Cambria" pitchFamily="34" charset="-122"/>
                <a:cs typeface="Cambria" pitchFamily="34" charset="-120"/>
              </a:rPr>
              <a:t>Methodology</a:t>
            </a:r>
            <a:endParaRPr lang="en-US" sz="2000" dirty="0"/>
          </a:p>
        </p:txBody>
      </p:sp>
      <p:sp>
        <p:nvSpPr>
          <p:cNvPr id="15" name="Text 13"/>
          <p:cNvSpPr/>
          <p:nvPr/>
        </p:nvSpPr>
        <p:spPr>
          <a:xfrm>
            <a:off x="1691640" y="3264408"/>
            <a:ext cx="9601200" cy="320040"/>
          </a:xfrm>
          <a:prstGeom prst="rect">
            <a:avLst/>
          </a:prstGeom>
          <a:noFill/>
          <a:ln/>
        </p:spPr>
        <p:txBody>
          <a:bodyPr wrap="square" lIns="0" tIns="0" rIns="0" bIns="0" rtlCol="0" anchor="ctr"/>
          <a:lstStyle/>
          <a:p>
            <a:pPr algn="l" indent="0" marL="0">
              <a:buNone/>
            </a:pPr>
            <a:r>
              <a:rPr lang="en-US" sz="1300" dirty="0">
                <a:solidFill>
                  <a:srgbClr val="6C757D"/>
                </a:solidFill>
                <a:latin typeface="Calibri" pitchFamily="34" charset="0"/>
                <a:ea typeface="Calibri" pitchFamily="34" charset="-122"/>
                <a:cs typeface="Calibri" pitchFamily="34" charset="-120"/>
              </a:rPr>
              <a:t>Preprocessing, TF-IDF, and four classifiers</a:t>
            </a:r>
            <a:endParaRPr lang="en-US" sz="1300" dirty="0"/>
          </a:p>
        </p:txBody>
      </p:sp>
      <p:sp>
        <p:nvSpPr>
          <p:cNvPr id="16" name="Shape 14"/>
          <p:cNvSpPr/>
          <p:nvPr/>
        </p:nvSpPr>
        <p:spPr>
          <a:xfrm>
            <a:off x="914400" y="3739896"/>
            <a:ext cx="502920" cy="502920"/>
          </a:xfrm>
          <a:prstGeom prst="ellipse">
            <a:avLst/>
          </a:prstGeom>
          <a:solidFill>
            <a:srgbClr val="0F2942"/>
          </a:solidFill>
          <a:ln/>
        </p:spPr>
      </p:sp>
      <p:sp>
        <p:nvSpPr>
          <p:cNvPr id="17" name="Text 15"/>
          <p:cNvSpPr/>
          <p:nvPr/>
        </p:nvSpPr>
        <p:spPr>
          <a:xfrm>
            <a:off x="914400" y="373989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691640" y="3666744"/>
            <a:ext cx="4114800" cy="365760"/>
          </a:xfrm>
          <a:prstGeom prst="rect">
            <a:avLst/>
          </a:prstGeom>
          <a:noFill/>
          <a:ln/>
        </p:spPr>
        <p:txBody>
          <a:bodyPr wrap="square" lIns="0" tIns="0" rIns="0" bIns="0" rtlCol="0" anchor="ctr"/>
          <a:lstStyle/>
          <a:p>
            <a:pPr algn="l" indent="0" marL="0">
              <a:buNone/>
            </a:pPr>
            <a:r>
              <a:rPr lang="en-US" sz="2000" b="1" dirty="0">
                <a:solidFill>
                  <a:srgbClr val="1D3557"/>
                </a:solidFill>
                <a:latin typeface="Cambria" pitchFamily="34" charset="0"/>
                <a:ea typeface="Cambria" pitchFamily="34" charset="-122"/>
                <a:cs typeface="Cambria" pitchFamily="34" charset="-120"/>
              </a:rPr>
              <a:t>Results</a:t>
            </a:r>
            <a:endParaRPr lang="en-US" sz="2000" dirty="0"/>
          </a:p>
        </p:txBody>
      </p:sp>
      <p:sp>
        <p:nvSpPr>
          <p:cNvPr id="19" name="Text 17"/>
          <p:cNvSpPr/>
          <p:nvPr/>
        </p:nvSpPr>
        <p:spPr>
          <a:xfrm>
            <a:off x="1691640" y="4014216"/>
            <a:ext cx="9601200" cy="320040"/>
          </a:xfrm>
          <a:prstGeom prst="rect">
            <a:avLst/>
          </a:prstGeom>
          <a:noFill/>
          <a:ln/>
        </p:spPr>
        <p:txBody>
          <a:bodyPr wrap="square" lIns="0" tIns="0" rIns="0" bIns="0" rtlCol="0" anchor="ctr"/>
          <a:lstStyle/>
          <a:p>
            <a:pPr algn="l" indent="0" marL="0">
              <a:buNone/>
            </a:pPr>
            <a:r>
              <a:rPr lang="en-US" sz="1300" dirty="0">
                <a:solidFill>
                  <a:srgbClr val="6C757D"/>
                </a:solidFill>
                <a:latin typeface="Calibri" pitchFamily="34" charset="0"/>
                <a:ea typeface="Calibri" pitchFamily="34" charset="-122"/>
                <a:cs typeface="Calibri" pitchFamily="34" charset="-120"/>
              </a:rPr>
              <a:t>Performance metrics and confusion matrix analysis</a:t>
            </a:r>
            <a:endParaRPr lang="en-US" sz="1300" dirty="0"/>
          </a:p>
        </p:txBody>
      </p:sp>
      <p:sp>
        <p:nvSpPr>
          <p:cNvPr id="20" name="Shape 18"/>
          <p:cNvSpPr/>
          <p:nvPr/>
        </p:nvSpPr>
        <p:spPr>
          <a:xfrm>
            <a:off x="914400" y="4489704"/>
            <a:ext cx="502920" cy="502920"/>
          </a:xfrm>
          <a:prstGeom prst="ellipse">
            <a:avLst/>
          </a:prstGeom>
          <a:solidFill>
            <a:srgbClr val="0F2942"/>
          </a:solidFill>
          <a:ln/>
        </p:spPr>
      </p:sp>
      <p:sp>
        <p:nvSpPr>
          <p:cNvPr id="21" name="Text 19"/>
          <p:cNvSpPr/>
          <p:nvPr/>
        </p:nvSpPr>
        <p:spPr>
          <a:xfrm>
            <a:off x="914400" y="448970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1691640" y="4416552"/>
            <a:ext cx="4114800" cy="365760"/>
          </a:xfrm>
          <a:prstGeom prst="rect">
            <a:avLst/>
          </a:prstGeom>
          <a:noFill/>
          <a:ln/>
        </p:spPr>
        <p:txBody>
          <a:bodyPr wrap="square" lIns="0" tIns="0" rIns="0" bIns="0" rtlCol="0" anchor="ctr"/>
          <a:lstStyle/>
          <a:p>
            <a:pPr algn="l" indent="0" marL="0">
              <a:buNone/>
            </a:pPr>
            <a:r>
              <a:rPr lang="en-US" sz="2000" b="1" dirty="0">
                <a:solidFill>
                  <a:srgbClr val="1D3557"/>
                </a:solidFill>
                <a:latin typeface="Cambria" pitchFamily="34" charset="0"/>
                <a:ea typeface="Cambria" pitchFamily="34" charset="-122"/>
                <a:cs typeface="Cambria" pitchFamily="34" charset="-120"/>
              </a:rPr>
              <a:t>Discussion &amp; Insights</a:t>
            </a:r>
            <a:endParaRPr lang="en-US" sz="2000" dirty="0"/>
          </a:p>
        </p:txBody>
      </p:sp>
      <p:sp>
        <p:nvSpPr>
          <p:cNvPr id="23" name="Text 21"/>
          <p:cNvSpPr/>
          <p:nvPr/>
        </p:nvSpPr>
        <p:spPr>
          <a:xfrm>
            <a:off x="1691640" y="4764024"/>
            <a:ext cx="9601200" cy="320040"/>
          </a:xfrm>
          <a:prstGeom prst="rect">
            <a:avLst/>
          </a:prstGeom>
          <a:noFill/>
          <a:ln/>
        </p:spPr>
        <p:txBody>
          <a:bodyPr wrap="square" lIns="0" tIns="0" rIns="0" bIns="0" rtlCol="0" anchor="ctr"/>
          <a:lstStyle/>
          <a:p>
            <a:pPr algn="l" indent="0" marL="0">
              <a:buNone/>
            </a:pPr>
            <a:r>
              <a:rPr lang="en-US" sz="1300" dirty="0">
                <a:solidFill>
                  <a:srgbClr val="6C757D"/>
                </a:solidFill>
                <a:latin typeface="Calibri" pitchFamily="34" charset="0"/>
                <a:ea typeface="Calibri" pitchFamily="34" charset="-122"/>
                <a:cs typeface="Calibri" pitchFamily="34" charset="-120"/>
              </a:rPr>
              <a:t>Parametric vs non-parametric, limitations found</a:t>
            </a:r>
            <a:endParaRPr lang="en-US" sz="1300" dirty="0"/>
          </a:p>
        </p:txBody>
      </p:sp>
      <p:sp>
        <p:nvSpPr>
          <p:cNvPr id="24" name="Shape 22"/>
          <p:cNvSpPr/>
          <p:nvPr/>
        </p:nvSpPr>
        <p:spPr>
          <a:xfrm>
            <a:off x="914400" y="5239512"/>
            <a:ext cx="502920" cy="502920"/>
          </a:xfrm>
          <a:prstGeom prst="ellipse">
            <a:avLst/>
          </a:prstGeom>
          <a:solidFill>
            <a:srgbClr val="0F2942"/>
          </a:solidFill>
          <a:ln/>
        </p:spPr>
      </p:sp>
      <p:sp>
        <p:nvSpPr>
          <p:cNvPr id="25" name="Text 23"/>
          <p:cNvSpPr/>
          <p:nvPr/>
        </p:nvSpPr>
        <p:spPr>
          <a:xfrm>
            <a:off x="914400" y="5239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1691640" y="5166360"/>
            <a:ext cx="4114800" cy="365760"/>
          </a:xfrm>
          <a:prstGeom prst="rect">
            <a:avLst/>
          </a:prstGeom>
          <a:noFill/>
          <a:ln/>
        </p:spPr>
        <p:txBody>
          <a:bodyPr wrap="square" lIns="0" tIns="0" rIns="0" bIns="0" rtlCol="0" anchor="ctr"/>
          <a:lstStyle/>
          <a:p>
            <a:pPr algn="l" indent="0" marL="0">
              <a:buNone/>
            </a:pPr>
            <a:r>
              <a:rPr lang="en-US" sz="2000" b="1" dirty="0">
                <a:solidFill>
                  <a:srgbClr val="1D3557"/>
                </a:solidFill>
                <a:latin typeface="Cambria" pitchFamily="34" charset="0"/>
                <a:ea typeface="Cambria" pitchFamily="34" charset="-122"/>
                <a:cs typeface="Cambria" pitchFamily="34" charset="-120"/>
              </a:rPr>
              <a:t>Conclusion</a:t>
            </a:r>
            <a:endParaRPr lang="en-US" sz="2000" dirty="0"/>
          </a:p>
        </p:txBody>
      </p:sp>
      <p:sp>
        <p:nvSpPr>
          <p:cNvPr id="27" name="Text 25"/>
          <p:cNvSpPr/>
          <p:nvPr/>
        </p:nvSpPr>
        <p:spPr>
          <a:xfrm>
            <a:off x="1691640" y="5513832"/>
            <a:ext cx="9601200" cy="320040"/>
          </a:xfrm>
          <a:prstGeom prst="rect">
            <a:avLst/>
          </a:prstGeom>
          <a:noFill/>
          <a:ln/>
        </p:spPr>
        <p:txBody>
          <a:bodyPr wrap="square" lIns="0" tIns="0" rIns="0" bIns="0" rtlCol="0" anchor="ctr"/>
          <a:lstStyle/>
          <a:p>
            <a:pPr algn="l" indent="0" marL="0">
              <a:buNone/>
            </a:pPr>
            <a:r>
              <a:rPr lang="en-US" sz="1300" dirty="0">
                <a:solidFill>
                  <a:srgbClr val="6C757D"/>
                </a:solidFill>
                <a:latin typeface="Calibri" pitchFamily="34" charset="0"/>
                <a:ea typeface="Calibri" pitchFamily="34" charset="-122"/>
                <a:cs typeface="Calibri" pitchFamily="34" charset="-120"/>
              </a:rPr>
              <a:t>Recommendation and future work</a:t>
            </a:r>
            <a:endParaRPr lang="en-US" sz="130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29" name="Text 2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The Problem</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Text 4"/>
          <p:cNvSpPr/>
          <p:nvPr/>
        </p:nvSpPr>
        <p:spPr>
          <a:xfrm>
            <a:off x="640080" y="1371600"/>
            <a:ext cx="5486400" cy="1097280"/>
          </a:xfrm>
          <a:prstGeom prst="rect">
            <a:avLst/>
          </a:prstGeom>
          <a:noFill/>
          <a:ln/>
        </p:spPr>
        <p:txBody>
          <a:bodyPr wrap="square" lIns="0" tIns="0" rIns="0" bIns="0" rtlCol="0" anchor="ctr"/>
          <a:lstStyle/>
          <a:p>
            <a:pPr algn="l" indent="0" marL="0">
              <a:buNone/>
            </a:pPr>
            <a:r>
              <a:rPr lang="en-US" sz="7200" b="1" dirty="0">
                <a:solidFill>
                  <a:srgbClr val="E63946"/>
                </a:solidFill>
                <a:latin typeface="Cambria" pitchFamily="34" charset="0"/>
                <a:ea typeface="Cambria" pitchFamily="34" charset="-122"/>
                <a:cs typeface="Cambria" pitchFamily="34" charset="-120"/>
              </a:rPr>
              <a:t>3.4 Billion</a:t>
            </a:r>
            <a:endParaRPr lang="en-US" sz="7200" dirty="0"/>
          </a:p>
        </p:txBody>
      </p:sp>
      <p:sp>
        <p:nvSpPr>
          <p:cNvPr id="7" name="Text 5"/>
          <p:cNvSpPr/>
          <p:nvPr/>
        </p:nvSpPr>
        <p:spPr>
          <a:xfrm>
            <a:off x="640080" y="2468880"/>
            <a:ext cx="5486400" cy="457200"/>
          </a:xfrm>
          <a:prstGeom prst="rect">
            <a:avLst/>
          </a:prstGeom>
          <a:noFill/>
          <a:ln/>
        </p:spPr>
        <p:txBody>
          <a:bodyPr wrap="square" lIns="0" tIns="0" rIns="0" bIns="0" rtlCol="0" anchor="ctr"/>
          <a:lstStyle/>
          <a:p>
            <a:pPr algn="l" indent="0" marL="0">
              <a:buNone/>
            </a:pPr>
            <a:r>
              <a:rPr lang="en-US" sz="1600" i="1" dirty="0">
                <a:solidFill>
                  <a:srgbClr val="6C757D"/>
                </a:solidFill>
                <a:latin typeface="Calibri" pitchFamily="34" charset="0"/>
                <a:ea typeface="Calibri" pitchFamily="34" charset="-122"/>
                <a:cs typeface="Calibri" pitchFamily="34" charset="-120"/>
              </a:rPr>
              <a:t>phishing emails sent every day worldwide</a:t>
            </a:r>
            <a:endParaRPr lang="en-US" sz="1600" dirty="0"/>
          </a:p>
        </p:txBody>
      </p:sp>
      <p:sp>
        <p:nvSpPr>
          <p:cNvPr id="8" name="Text 6"/>
          <p:cNvSpPr/>
          <p:nvPr/>
        </p:nvSpPr>
        <p:spPr>
          <a:xfrm>
            <a:off x="6675120" y="1371600"/>
            <a:ext cx="5029200" cy="457200"/>
          </a:xfrm>
          <a:prstGeom prst="rect">
            <a:avLst/>
          </a:prstGeom>
          <a:noFill/>
          <a:ln/>
        </p:spPr>
        <p:txBody>
          <a:bodyPr wrap="square" lIns="0" tIns="0" rIns="0" bIns="0" rtlCol="0" anchor="ctr"/>
          <a:lstStyle/>
          <a:p>
            <a:pPr algn="l" indent="0" marL="0">
              <a:buNone/>
            </a:pPr>
            <a:r>
              <a:rPr lang="en-US" sz="2200" b="1" dirty="0">
                <a:solidFill>
                  <a:srgbClr val="0F2942"/>
                </a:solidFill>
                <a:latin typeface="Cambria" pitchFamily="34" charset="0"/>
                <a:ea typeface="Cambria" pitchFamily="34" charset="-122"/>
                <a:cs typeface="Cambria" pitchFamily="34" charset="-120"/>
              </a:rPr>
              <a:t>Why This Matters</a:t>
            </a:r>
            <a:endParaRPr lang="en-US" sz="2200" dirty="0"/>
          </a:p>
        </p:txBody>
      </p:sp>
      <p:sp>
        <p:nvSpPr>
          <p:cNvPr id="9" name="Text 7"/>
          <p:cNvSpPr/>
          <p:nvPr/>
        </p:nvSpPr>
        <p:spPr>
          <a:xfrm>
            <a:off x="6675120" y="1874520"/>
            <a:ext cx="5029200" cy="2743200"/>
          </a:xfrm>
          <a:prstGeom prst="rect">
            <a:avLst/>
          </a:prstGeom>
          <a:noFill/>
          <a:ln/>
        </p:spPr>
        <p:txBody>
          <a:bodyPr wrap="square" rtlCol="0" anchor="ctr"/>
          <a:lstStyle/>
          <a:p>
            <a:pPr algn="l" marL="342900" indent="-342900">
              <a:spcAft>
                <a:spcPts val="800"/>
              </a:spcAft>
              <a:buSzPct val="100000"/>
              <a:buChar char="▪"/>
            </a:pPr>
            <a:r>
              <a:rPr lang="en-US" sz="1400" dirty="0">
                <a:solidFill>
                  <a:srgbClr val="1D3557"/>
                </a:solidFill>
                <a:latin typeface="Calibri" pitchFamily="34" charset="0"/>
                <a:ea typeface="Calibri" pitchFamily="34" charset="-122"/>
                <a:cs typeface="Calibri" pitchFamily="34" charset="-120"/>
              </a:rPr>
              <a:t>Phishing is the #1 vector for credential theft, ransomware, and financial fraud.</a:t>
            </a:r>
            <a:endParaRPr lang="en-US" sz="1400" dirty="0"/>
          </a:p>
          <a:p>
            <a:pPr algn="l" marL="342900" indent="-342900">
              <a:spcAft>
                <a:spcPts val="800"/>
              </a:spcAft>
              <a:buSzPct val="100000"/>
              <a:buChar char="▪"/>
            </a:pPr>
            <a:r>
              <a:rPr lang="en-US" sz="1400" dirty="0">
                <a:solidFill>
                  <a:srgbClr val="1D3557"/>
                </a:solidFill>
                <a:latin typeface="Calibri" pitchFamily="34" charset="0"/>
                <a:ea typeface="Calibri" pitchFamily="34" charset="-122"/>
                <a:cs typeface="Calibri" pitchFamily="34" charset="-120"/>
              </a:rPr>
              <a:t>Rule-based email filters fail against novel campaigns.</a:t>
            </a:r>
            <a:endParaRPr lang="en-US" sz="1400" dirty="0"/>
          </a:p>
          <a:p>
            <a:pPr algn="l" marL="342900" indent="-342900">
              <a:spcAft>
                <a:spcPts val="800"/>
              </a:spcAft>
              <a:buSzPct val="100000"/>
              <a:buChar char="▪"/>
            </a:pPr>
            <a:r>
              <a:rPr lang="en-US" sz="1400" dirty="0">
                <a:solidFill>
                  <a:srgbClr val="1D3557"/>
                </a:solidFill>
                <a:latin typeface="Calibri" pitchFamily="34" charset="0"/>
                <a:ea typeface="Calibri" pitchFamily="34" charset="-122"/>
                <a:cs typeface="Calibri" pitchFamily="34" charset="-120"/>
              </a:rPr>
              <a:t>Attackers use language tricks — urgency, impersonation, embedded URLs.</a:t>
            </a:r>
            <a:endParaRPr lang="en-US" sz="1400" dirty="0"/>
          </a:p>
          <a:p>
            <a:pPr algn="l" marL="342900" indent="-342900">
              <a:buSzPct val="100000"/>
              <a:buChar char="▪"/>
            </a:pPr>
            <a:r>
              <a:rPr lang="en-US" sz="1400" dirty="0">
                <a:solidFill>
                  <a:srgbClr val="1D3557"/>
                </a:solidFill>
                <a:latin typeface="Calibri" pitchFamily="34" charset="0"/>
                <a:ea typeface="Calibri" pitchFamily="34" charset="-122"/>
                <a:cs typeface="Calibri" pitchFamily="34" charset="-120"/>
              </a:rPr>
              <a:t>Machine learning can learn these patterns automatically.</a:t>
            </a:r>
            <a:endParaRPr lang="en-US" sz="1400" dirty="0"/>
          </a:p>
        </p:txBody>
      </p:sp>
      <p:sp>
        <p:nvSpPr>
          <p:cNvPr id="10" name="Shape 8"/>
          <p:cNvSpPr/>
          <p:nvPr/>
        </p:nvSpPr>
        <p:spPr>
          <a:xfrm>
            <a:off x="457200" y="5212080"/>
            <a:ext cx="11247120" cy="960120"/>
          </a:xfrm>
          <a:prstGeom prst="rect">
            <a:avLst/>
          </a:prstGeom>
          <a:solidFill>
            <a:srgbClr val="F8F9FA"/>
          </a:solidFill>
          <a:ln w="38100">
            <a:solidFill>
              <a:srgbClr val="2A9D8F"/>
            </a:solidFill>
            <a:prstDash val="solid"/>
          </a:ln>
        </p:spPr>
      </p:sp>
      <p:sp>
        <p:nvSpPr>
          <p:cNvPr id="11" name="Text 9"/>
          <p:cNvSpPr/>
          <p:nvPr/>
        </p:nvSpPr>
        <p:spPr>
          <a:xfrm>
            <a:off x="822960" y="5257800"/>
            <a:ext cx="10698480" cy="868680"/>
          </a:xfrm>
          <a:prstGeom prst="rect">
            <a:avLst/>
          </a:prstGeom>
          <a:noFill/>
          <a:ln/>
        </p:spPr>
        <p:txBody>
          <a:bodyPr wrap="square" lIns="0" tIns="0" rIns="0" bIns="0" rtlCol="0" anchor="ctr"/>
          <a:lstStyle/>
          <a:p>
            <a:pPr algn="l" indent="0" marL="0">
              <a:buNone/>
            </a:pPr>
            <a:r>
              <a:rPr lang="en-US" sz="1500" b="1" dirty="0">
                <a:solidFill>
                  <a:srgbClr val="2A9D8F"/>
                </a:solidFill>
                <a:latin typeface="Cambria" pitchFamily="34" charset="0"/>
                <a:ea typeface="Cambria" pitchFamily="34" charset="-122"/>
                <a:cs typeface="Cambria" pitchFamily="34" charset="-120"/>
              </a:rPr>
              <a:t>OBJECTIVE:  </a:t>
            </a:r>
            <a:pPr algn="l" indent="0" marL="0">
              <a:buNone/>
            </a:pPr>
            <a:r>
              <a:rPr lang="en-US" sz="1500" dirty="0">
                <a:solidFill>
                  <a:srgbClr val="1D3557"/>
                </a:solidFill>
                <a:latin typeface="Calibri" pitchFamily="34" charset="0"/>
                <a:ea typeface="Calibri" pitchFamily="34" charset="-122"/>
                <a:cs typeface="Calibri" pitchFamily="34" charset="-120"/>
              </a:rPr>
              <a:t>Design and evaluate a machine-learning system that automatically classifies emails as </a:t>
            </a:r>
            <a:pPr algn="l" indent="0" marL="0">
              <a:buNone/>
            </a:pPr>
            <a:r>
              <a:rPr lang="en-US" sz="1500" b="1" dirty="0">
                <a:solidFill>
                  <a:srgbClr val="E63946"/>
                </a:solidFill>
                <a:latin typeface="Calibri" pitchFamily="34" charset="0"/>
                <a:ea typeface="Calibri" pitchFamily="34" charset="-122"/>
                <a:cs typeface="Calibri" pitchFamily="34" charset="-120"/>
              </a:rPr>
              <a:t>phishing</a:t>
            </a:r>
            <a:pPr algn="l" indent="0" marL="0">
              <a:buNone/>
            </a:pPr>
            <a:r>
              <a:rPr lang="en-US" sz="1500" dirty="0">
                <a:solidFill>
                  <a:srgbClr val="1D3557"/>
                </a:solidFill>
                <a:latin typeface="Calibri" pitchFamily="34" charset="0"/>
                <a:ea typeface="Calibri" pitchFamily="34" charset="-122"/>
                <a:cs typeface="Calibri" pitchFamily="34" charset="-120"/>
              </a:rPr>
              <a:t> or </a:t>
            </a:r>
            <a:pPr algn="l" indent="0" marL="0">
              <a:buNone/>
            </a:pPr>
            <a:r>
              <a:rPr lang="en-US" sz="1500" b="1" dirty="0">
                <a:solidFill>
                  <a:srgbClr val="2A9D8F"/>
                </a:solidFill>
                <a:latin typeface="Calibri" pitchFamily="34" charset="0"/>
                <a:ea typeface="Calibri" pitchFamily="34" charset="-122"/>
                <a:cs typeface="Calibri" pitchFamily="34" charset="-120"/>
              </a:rPr>
              <a:t>legitimate</a:t>
            </a:r>
            <a:pPr algn="l" indent="0" marL="0">
              <a:buNone/>
            </a:pPr>
            <a:r>
              <a:rPr lang="en-US" sz="1500" dirty="0">
                <a:solidFill>
                  <a:srgbClr val="1D3557"/>
                </a:solidFill>
                <a:latin typeface="Calibri" pitchFamily="34" charset="0"/>
                <a:ea typeface="Calibri" pitchFamily="34" charset="-122"/>
                <a:cs typeface="Calibri" pitchFamily="34" charset="-120"/>
              </a:rPr>
              <a:t> using NLP-based features.</a:t>
            </a:r>
            <a:endParaRPr lang="en-US" sz="1500" dirty="0"/>
          </a:p>
        </p:txBody>
      </p:sp>
      <p:sp>
        <p:nvSpPr>
          <p:cNvPr id="12" name="Text 10"/>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Dataset</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Text 4"/>
          <p:cNvSpPr/>
          <p:nvPr/>
        </p:nvSpPr>
        <p:spPr>
          <a:xfrm>
            <a:off x="640080" y="1371600"/>
            <a:ext cx="4572000" cy="1005840"/>
          </a:xfrm>
          <a:prstGeom prst="rect">
            <a:avLst/>
          </a:prstGeom>
          <a:noFill/>
          <a:ln/>
        </p:spPr>
        <p:txBody>
          <a:bodyPr wrap="square" lIns="0" tIns="0" rIns="0" bIns="0" rtlCol="0" anchor="ctr"/>
          <a:lstStyle/>
          <a:p>
            <a:pPr algn="l" indent="0" marL="0">
              <a:buNone/>
            </a:pPr>
            <a:r>
              <a:rPr lang="en-US" sz="6000" b="1" dirty="0">
                <a:solidFill>
                  <a:srgbClr val="0F2942"/>
                </a:solidFill>
                <a:latin typeface="Cambria" pitchFamily="34" charset="0"/>
                <a:ea typeface="Cambria" pitchFamily="34" charset="-122"/>
                <a:cs typeface="Cambria" pitchFamily="34" charset="-120"/>
              </a:rPr>
              <a:t>82,190</a:t>
            </a:r>
            <a:endParaRPr lang="en-US" sz="6000" dirty="0"/>
          </a:p>
        </p:txBody>
      </p:sp>
      <p:sp>
        <p:nvSpPr>
          <p:cNvPr id="7" name="Text 5"/>
          <p:cNvSpPr/>
          <p:nvPr/>
        </p:nvSpPr>
        <p:spPr>
          <a:xfrm>
            <a:off x="640080" y="2377440"/>
            <a:ext cx="4572000" cy="365760"/>
          </a:xfrm>
          <a:prstGeom prst="rect">
            <a:avLst/>
          </a:prstGeom>
          <a:noFill/>
          <a:ln/>
        </p:spPr>
        <p:txBody>
          <a:bodyPr wrap="square" lIns="0" tIns="0" rIns="0" bIns="0" rtlCol="0" anchor="ctr"/>
          <a:lstStyle/>
          <a:p>
            <a:pPr algn="l" indent="0" marL="0">
              <a:buNone/>
            </a:pPr>
            <a:r>
              <a:rPr lang="en-US" sz="1400" i="1" dirty="0">
                <a:solidFill>
                  <a:srgbClr val="6C757D"/>
                </a:solidFill>
                <a:latin typeface="Calibri" pitchFamily="34" charset="0"/>
                <a:ea typeface="Calibri" pitchFamily="34" charset="-122"/>
                <a:cs typeface="Calibri" pitchFamily="34" charset="-120"/>
              </a:rPr>
              <a:t>labelled emails after cleaning</a:t>
            </a:r>
            <a:endParaRPr lang="en-US" sz="1400" dirty="0"/>
          </a:p>
        </p:txBody>
      </p:sp>
      <p:sp>
        <p:nvSpPr>
          <p:cNvPr id="8" name="Text 6"/>
          <p:cNvSpPr/>
          <p:nvPr/>
        </p:nvSpPr>
        <p:spPr>
          <a:xfrm>
            <a:off x="640080" y="3017520"/>
            <a:ext cx="4572000" cy="365760"/>
          </a:xfrm>
          <a:prstGeom prst="rect">
            <a:avLst/>
          </a:prstGeom>
          <a:noFill/>
          <a:ln/>
        </p:spPr>
        <p:txBody>
          <a:bodyPr wrap="square" lIns="0" tIns="0" rIns="0" bIns="0" rtlCol="0" anchor="ctr"/>
          <a:lstStyle/>
          <a:p>
            <a:pPr algn="l" indent="0" marL="0">
              <a:buNone/>
            </a:pPr>
            <a:r>
              <a:rPr lang="en-US" sz="1600" b="1" dirty="0">
                <a:solidFill>
                  <a:srgbClr val="0F2942"/>
                </a:solidFill>
                <a:latin typeface="Cambria" pitchFamily="34" charset="0"/>
                <a:ea typeface="Cambria" pitchFamily="34" charset="-122"/>
                <a:cs typeface="Cambria" pitchFamily="34" charset="-120"/>
              </a:rPr>
              <a:t>Class Distribution</a:t>
            </a:r>
            <a:endParaRPr lang="en-US" sz="1600" dirty="0"/>
          </a:p>
        </p:txBody>
      </p:sp>
      <p:sp>
        <p:nvSpPr>
          <p:cNvPr id="9" name="Shape 7"/>
          <p:cNvSpPr/>
          <p:nvPr/>
        </p:nvSpPr>
        <p:spPr>
          <a:xfrm>
            <a:off x="640080" y="3520440"/>
            <a:ext cx="2377440" cy="502920"/>
          </a:xfrm>
          <a:prstGeom prst="rect">
            <a:avLst/>
          </a:prstGeom>
          <a:solidFill>
            <a:srgbClr val="E63946"/>
          </a:solidFill>
          <a:ln/>
        </p:spPr>
      </p:sp>
      <p:sp>
        <p:nvSpPr>
          <p:cNvPr id="10" name="Text 8"/>
          <p:cNvSpPr/>
          <p:nvPr/>
        </p:nvSpPr>
        <p:spPr>
          <a:xfrm>
            <a:off x="640080" y="3520440"/>
            <a:ext cx="237744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Phishing  52.0%</a:t>
            </a:r>
            <a:endParaRPr lang="en-US" sz="1200" dirty="0"/>
          </a:p>
        </p:txBody>
      </p:sp>
      <p:sp>
        <p:nvSpPr>
          <p:cNvPr id="11" name="Text 9"/>
          <p:cNvSpPr/>
          <p:nvPr/>
        </p:nvSpPr>
        <p:spPr>
          <a:xfrm>
            <a:off x="3063240" y="3520440"/>
            <a:ext cx="1371600" cy="502920"/>
          </a:xfrm>
          <a:prstGeom prst="rect">
            <a:avLst/>
          </a:prstGeom>
          <a:noFill/>
          <a:ln/>
        </p:spPr>
        <p:txBody>
          <a:bodyPr wrap="square" lIns="0" tIns="0" rIns="0" bIns="0" rtlCol="0" anchor="ctr"/>
          <a:lstStyle/>
          <a:p>
            <a:pPr algn="l" indent="0" marL="0">
              <a:buNone/>
            </a:pPr>
            <a:r>
              <a:rPr lang="en-US" sz="1200" dirty="0">
                <a:solidFill>
                  <a:srgbClr val="1D3557"/>
                </a:solidFill>
                <a:latin typeface="Calibri" pitchFamily="34" charset="0"/>
                <a:ea typeface="Calibri" pitchFamily="34" charset="-122"/>
                <a:cs typeface="Calibri" pitchFamily="34" charset="-120"/>
              </a:rPr>
              <a:t>42,891</a:t>
            </a:r>
            <a:endParaRPr lang="en-US" sz="1200" dirty="0"/>
          </a:p>
        </p:txBody>
      </p:sp>
      <p:sp>
        <p:nvSpPr>
          <p:cNvPr id="12" name="Shape 10"/>
          <p:cNvSpPr/>
          <p:nvPr/>
        </p:nvSpPr>
        <p:spPr>
          <a:xfrm>
            <a:off x="640080" y="4114800"/>
            <a:ext cx="2194560" cy="502920"/>
          </a:xfrm>
          <a:prstGeom prst="rect">
            <a:avLst/>
          </a:prstGeom>
          <a:solidFill>
            <a:srgbClr val="2A9D8F"/>
          </a:solidFill>
          <a:ln/>
        </p:spPr>
      </p:sp>
      <p:sp>
        <p:nvSpPr>
          <p:cNvPr id="13" name="Text 11"/>
          <p:cNvSpPr/>
          <p:nvPr/>
        </p:nvSpPr>
        <p:spPr>
          <a:xfrm>
            <a:off x="640080" y="4114800"/>
            <a:ext cx="219456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Legitimate  48.0%</a:t>
            </a:r>
            <a:endParaRPr lang="en-US" sz="1200" dirty="0"/>
          </a:p>
        </p:txBody>
      </p:sp>
      <p:sp>
        <p:nvSpPr>
          <p:cNvPr id="14" name="Text 12"/>
          <p:cNvSpPr/>
          <p:nvPr/>
        </p:nvSpPr>
        <p:spPr>
          <a:xfrm>
            <a:off x="2880360" y="4114800"/>
            <a:ext cx="1371600" cy="502920"/>
          </a:xfrm>
          <a:prstGeom prst="rect">
            <a:avLst/>
          </a:prstGeom>
          <a:noFill/>
          <a:ln/>
        </p:spPr>
        <p:txBody>
          <a:bodyPr wrap="square" lIns="0" tIns="0" rIns="0" bIns="0" rtlCol="0" anchor="ctr"/>
          <a:lstStyle/>
          <a:p>
            <a:pPr algn="l" indent="0" marL="0">
              <a:buNone/>
            </a:pPr>
            <a:r>
              <a:rPr lang="en-US" sz="1200" dirty="0">
                <a:solidFill>
                  <a:srgbClr val="1D3557"/>
                </a:solidFill>
                <a:latin typeface="Calibri" pitchFamily="34" charset="0"/>
                <a:ea typeface="Calibri" pitchFamily="34" charset="-122"/>
                <a:cs typeface="Calibri" pitchFamily="34" charset="-120"/>
              </a:rPr>
              <a:t>39,595</a:t>
            </a:r>
            <a:endParaRPr lang="en-US" sz="1200" dirty="0"/>
          </a:p>
        </p:txBody>
      </p:sp>
      <p:sp>
        <p:nvSpPr>
          <p:cNvPr id="15" name="Text 13"/>
          <p:cNvSpPr/>
          <p:nvPr/>
        </p:nvSpPr>
        <p:spPr>
          <a:xfrm>
            <a:off x="6675120" y="1371600"/>
            <a:ext cx="5029200" cy="457200"/>
          </a:xfrm>
          <a:prstGeom prst="rect">
            <a:avLst/>
          </a:prstGeom>
          <a:noFill/>
          <a:ln/>
        </p:spPr>
        <p:txBody>
          <a:bodyPr wrap="square" lIns="0" tIns="0" rIns="0" bIns="0" rtlCol="0" anchor="ctr"/>
          <a:lstStyle/>
          <a:p>
            <a:pPr algn="l" indent="0" marL="0">
              <a:buNone/>
            </a:pPr>
            <a:r>
              <a:rPr lang="en-US" sz="2000" b="1" dirty="0">
                <a:solidFill>
                  <a:srgbClr val="0F2942"/>
                </a:solidFill>
                <a:latin typeface="Cambria" pitchFamily="34" charset="0"/>
                <a:ea typeface="Cambria" pitchFamily="34" charset="-122"/>
                <a:cs typeface="Cambria" pitchFamily="34" charset="-120"/>
              </a:rPr>
              <a:t>Six Source Corpora</a:t>
            </a:r>
            <a:endParaRPr lang="en-US" sz="2000" dirty="0"/>
          </a:p>
        </p:txBody>
      </p:sp>
      <p:sp>
        <p:nvSpPr>
          <p:cNvPr id="16" name="Shape 14"/>
          <p:cNvSpPr/>
          <p:nvPr/>
        </p:nvSpPr>
        <p:spPr>
          <a:xfrm>
            <a:off x="6720840" y="2011680"/>
            <a:ext cx="256032" cy="256032"/>
          </a:xfrm>
          <a:prstGeom prst="ellipse">
            <a:avLst/>
          </a:prstGeom>
          <a:solidFill>
            <a:srgbClr val="0F2942"/>
          </a:solidFill>
          <a:ln/>
        </p:spPr>
      </p:sp>
      <p:sp>
        <p:nvSpPr>
          <p:cNvPr id="17" name="Text 15"/>
          <p:cNvSpPr/>
          <p:nvPr/>
        </p:nvSpPr>
        <p:spPr>
          <a:xfrm>
            <a:off x="7132320" y="1920240"/>
            <a:ext cx="5029200" cy="36576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Nazario</a:t>
            </a:r>
            <a:pPr algn="l" indent="0" marL="0">
              <a:buNone/>
            </a:pPr>
            <a:r>
              <a:rPr lang="en-US" sz="1200" dirty="0">
                <a:solidFill>
                  <a:srgbClr val="6C757D"/>
                </a:solidFill>
                <a:latin typeface="Calibri" pitchFamily="34" charset="0"/>
                <a:ea typeface="Calibri" pitchFamily="34" charset="-122"/>
                <a:cs typeface="Calibri" pitchFamily="34" charset="-120"/>
              </a:rPr>
              <a:t>  —  Phishing corpus</a:t>
            </a:r>
            <a:endParaRPr lang="en-US" sz="1300" dirty="0"/>
          </a:p>
        </p:txBody>
      </p:sp>
      <p:sp>
        <p:nvSpPr>
          <p:cNvPr id="18" name="Shape 16"/>
          <p:cNvSpPr/>
          <p:nvPr/>
        </p:nvSpPr>
        <p:spPr>
          <a:xfrm>
            <a:off x="6720840" y="2514600"/>
            <a:ext cx="256032" cy="256032"/>
          </a:xfrm>
          <a:prstGeom prst="ellipse">
            <a:avLst/>
          </a:prstGeom>
          <a:solidFill>
            <a:srgbClr val="0F2942"/>
          </a:solidFill>
          <a:ln/>
        </p:spPr>
      </p:sp>
      <p:sp>
        <p:nvSpPr>
          <p:cNvPr id="19" name="Text 17"/>
          <p:cNvSpPr/>
          <p:nvPr/>
        </p:nvSpPr>
        <p:spPr>
          <a:xfrm>
            <a:off x="7132320" y="2423160"/>
            <a:ext cx="5029200" cy="36576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Enron</a:t>
            </a:r>
            <a:pPr algn="l" indent="0" marL="0">
              <a:buNone/>
            </a:pPr>
            <a:r>
              <a:rPr lang="en-US" sz="1200" dirty="0">
                <a:solidFill>
                  <a:srgbClr val="6C757D"/>
                </a:solidFill>
                <a:latin typeface="Calibri" pitchFamily="34" charset="0"/>
                <a:ea typeface="Calibri" pitchFamily="34" charset="-122"/>
                <a:cs typeface="Calibri" pitchFamily="34" charset="-120"/>
              </a:rPr>
              <a:t>  —  Legitimate corporate email</a:t>
            </a:r>
            <a:endParaRPr lang="en-US" sz="1300" dirty="0"/>
          </a:p>
        </p:txBody>
      </p:sp>
      <p:sp>
        <p:nvSpPr>
          <p:cNvPr id="20" name="Shape 18"/>
          <p:cNvSpPr/>
          <p:nvPr/>
        </p:nvSpPr>
        <p:spPr>
          <a:xfrm>
            <a:off x="6720840" y="3017520"/>
            <a:ext cx="256032" cy="256032"/>
          </a:xfrm>
          <a:prstGeom prst="ellipse">
            <a:avLst/>
          </a:prstGeom>
          <a:solidFill>
            <a:srgbClr val="0F2942"/>
          </a:solidFill>
          <a:ln/>
        </p:spPr>
      </p:sp>
      <p:sp>
        <p:nvSpPr>
          <p:cNvPr id="21" name="Text 19"/>
          <p:cNvSpPr/>
          <p:nvPr/>
        </p:nvSpPr>
        <p:spPr>
          <a:xfrm>
            <a:off x="7132320" y="2926080"/>
            <a:ext cx="5029200" cy="36576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CEAS 2008</a:t>
            </a:r>
            <a:pPr algn="l" indent="0" marL="0">
              <a:buNone/>
            </a:pPr>
            <a:r>
              <a:rPr lang="en-US" sz="1200" dirty="0">
                <a:solidFill>
                  <a:srgbClr val="6C757D"/>
                </a:solidFill>
                <a:latin typeface="Calibri" pitchFamily="34" charset="0"/>
                <a:ea typeface="Calibri" pitchFamily="34" charset="-122"/>
                <a:cs typeface="Calibri" pitchFamily="34" charset="-120"/>
              </a:rPr>
              <a:t>  —  Anti-spam competition</a:t>
            </a:r>
            <a:endParaRPr lang="en-US" sz="1300" dirty="0"/>
          </a:p>
        </p:txBody>
      </p:sp>
      <p:sp>
        <p:nvSpPr>
          <p:cNvPr id="22" name="Shape 20"/>
          <p:cNvSpPr/>
          <p:nvPr/>
        </p:nvSpPr>
        <p:spPr>
          <a:xfrm>
            <a:off x="6720840" y="3520440"/>
            <a:ext cx="256032" cy="256032"/>
          </a:xfrm>
          <a:prstGeom prst="ellipse">
            <a:avLst/>
          </a:prstGeom>
          <a:solidFill>
            <a:srgbClr val="0F2942"/>
          </a:solidFill>
          <a:ln/>
        </p:spPr>
      </p:sp>
      <p:sp>
        <p:nvSpPr>
          <p:cNvPr id="23" name="Text 21"/>
          <p:cNvSpPr/>
          <p:nvPr/>
        </p:nvSpPr>
        <p:spPr>
          <a:xfrm>
            <a:off x="7132320" y="3429000"/>
            <a:ext cx="5029200" cy="36576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Nigerian Fraud</a:t>
            </a:r>
            <a:pPr algn="l" indent="0" marL="0">
              <a:buNone/>
            </a:pPr>
            <a:r>
              <a:rPr lang="en-US" sz="1200" dirty="0">
                <a:solidFill>
                  <a:srgbClr val="6C757D"/>
                </a:solidFill>
                <a:latin typeface="Calibri" pitchFamily="34" charset="0"/>
                <a:ea typeface="Calibri" pitchFamily="34" charset="-122"/>
                <a:cs typeface="Calibri" pitchFamily="34" charset="-120"/>
              </a:rPr>
              <a:t>  —  Advance-fee scams</a:t>
            </a:r>
            <a:endParaRPr lang="en-US" sz="1300" dirty="0"/>
          </a:p>
        </p:txBody>
      </p:sp>
      <p:sp>
        <p:nvSpPr>
          <p:cNvPr id="24" name="Shape 22"/>
          <p:cNvSpPr/>
          <p:nvPr/>
        </p:nvSpPr>
        <p:spPr>
          <a:xfrm>
            <a:off x="6720840" y="4023360"/>
            <a:ext cx="256032" cy="256032"/>
          </a:xfrm>
          <a:prstGeom prst="ellipse">
            <a:avLst/>
          </a:prstGeom>
          <a:solidFill>
            <a:srgbClr val="0F2942"/>
          </a:solidFill>
          <a:ln/>
        </p:spPr>
      </p:sp>
      <p:sp>
        <p:nvSpPr>
          <p:cNvPr id="25" name="Text 23"/>
          <p:cNvSpPr/>
          <p:nvPr/>
        </p:nvSpPr>
        <p:spPr>
          <a:xfrm>
            <a:off x="7132320" y="3931920"/>
            <a:ext cx="5029200" cy="36576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SpamAssassin</a:t>
            </a:r>
            <a:pPr algn="l" indent="0" marL="0">
              <a:buNone/>
            </a:pPr>
            <a:r>
              <a:rPr lang="en-US" sz="1200" dirty="0">
                <a:solidFill>
                  <a:srgbClr val="6C757D"/>
                </a:solidFill>
                <a:latin typeface="Calibri" pitchFamily="34" charset="0"/>
                <a:ea typeface="Calibri" pitchFamily="34" charset="-122"/>
                <a:cs typeface="Calibri" pitchFamily="34" charset="-120"/>
              </a:rPr>
              <a:t>  —  Filter test corpus</a:t>
            </a:r>
            <a:endParaRPr lang="en-US" sz="1300" dirty="0"/>
          </a:p>
        </p:txBody>
      </p:sp>
      <p:sp>
        <p:nvSpPr>
          <p:cNvPr id="26" name="Shape 24"/>
          <p:cNvSpPr/>
          <p:nvPr/>
        </p:nvSpPr>
        <p:spPr>
          <a:xfrm>
            <a:off x="6720840" y="4526280"/>
            <a:ext cx="256032" cy="256032"/>
          </a:xfrm>
          <a:prstGeom prst="ellipse">
            <a:avLst/>
          </a:prstGeom>
          <a:solidFill>
            <a:srgbClr val="0F2942"/>
          </a:solidFill>
          <a:ln/>
        </p:spPr>
      </p:sp>
      <p:sp>
        <p:nvSpPr>
          <p:cNvPr id="27" name="Text 25"/>
          <p:cNvSpPr/>
          <p:nvPr/>
        </p:nvSpPr>
        <p:spPr>
          <a:xfrm>
            <a:off x="7132320" y="4434840"/>
            <a:ext cx="5029200" cy="36576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Ling-Spam</a:t>
            </a:r>
            <a:pPr algn="l" indent="0" marL="0">
              <a:buNone/>
            </a:pPr>
            <a:r>
              <a:rPr lang="en-US" sz="1200" dirty="0">
                <a:solidFill>
                  <a:srgbClr val="6C757D"/>
                </a:solidFill>
                <a:latin typeface="Calibri" pitchFamily="34" charset="0"/>
                <a:ea typeface="Calibri" pitchFamily="34" charset="-122"/>
                <a:cs typeface="Calibri" pitchFamily="34" charset="-120"/>
              </a:rPr>
              <a:t>  —  Linguist mailing list</a:t>
            </a:r>
            <a:endParaRPr lang="en-US" sz="1300" dirty="0"/>
          </a:p>
        </p:txBody>
      </p:sp>
      <p:sp>
        <p:nvSpPr>
          <p:cNvPr id="28" name="Text 26"/>
          <p:cNvSpPr/>
          <p:nvPr/>
        </p:nvSpPr>
        <p:spPr>
          <a:xfrm>
            <a:off x="640080" y="5943600"/>
            <a:ext cx="10972800" cy="274320"/>
          </a:xfrm>
          <a:prstGeom prst="rect">
            <a:avLst/>
          </a:prstGeom>
          <a:noFill/>
          <a:ln/>
        </p:spPr>
        <p:txBody>
          <a:bodyPr wrap="square" lIns="0" tIns="0" rIns="0" bIns="0" rtlCol="0" anchor="ctr"/>
          <a:lstStyle/>
          <a:p>
            <a:pPr algn="l" indent="0" marL="0">
              <a:buNone/>
            </a:pPr>
            <a:r>
              <a:rPr lang="en-US" sz="1100" i="1" dirty="0">
                <a:solidFill>
                  <a:srgbClr val="6C757D"/>
                </a:solidFill>
                <a:latin typeface="Calibri" pitchFamily="34" charset="0"/>
                <a:ea typeface="Calibri" pitchFamily="34" charset="-122"/>
                <a:cs typeface="Calibri" pitchFamily="34" charset="-120"/>
              </a:rPr>
              <a:t>Source: </a:t>
            </a:r>
            <a:pPr algn="l" indent="0" marL="0">
              <a:buNone/>
            </a:pPr>
            <a:r>
              <a:rPr lang="en-US" sz="1100" i="1" dirty="0">
                <a:solidFill>
                  <a:srgbClr val="1D3557"/>
                </a:solidFill>
                <a:latin typeface="Calibri" pitchFamily="34" charset="0"/>
                <a:ea typeface="Calibri" pitchFamily="34" charset="-122"/>
                <a:cs typeface="Calibri" pitchFamily="34" charset="-120"/>
              </a:rPr>
              <a:t>Kaggle — Phishing Email Dataset by Naser Abdullah Alam (2024)</a:t>
            </a:r>
            <a:endParaRPr lang="en-US" sz="11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Methodology — Pipeline</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Shape 4"/>
          <p:cNvSpPr/>
          <p:nvPr/>
        </p:nvSpPr>
        <p:spPr>
          <a:xfrm>
            <a:off x="539496" y="2011680"/>
            <a:ext cx="1965960" cy="1920240"/>
          </a:xfrm>
          <a:prstGeom prst="roundRect">
            <a:avLst>
              <a:gd name="adj" fmla="val 4762"/>
            </a:avLst>
          </a:prstGeom>
          <a:solidFill>
            <a:srgbClr val="0F2942"/>
          </a:solidFill>
          <a:ln/>
        </p:spPr>
      </p:sp>
      <p:sp>
        <p:nvSpPr>
          <p:cNvPr id="7" name="Text 5"/>
          <p:cNvSpPr/>
          <p:nvPr/>
        </p:nvSpPr>
        <p:spPr>
          <a:xfrm>
            <a:off x="630936" y="2103120"/>
            <a:ext cx="457200" cy="365760"/>
          </a:xfrm>
          <a:prstGeom prst="rect">
            <a:avLst/>
          </a:prstGeom>
          <a:noFill/>
          <a:ln/>
        </p:spPr>
        <p:txBody>
          <a:bodyPr wrap="square" lIns="0" tIns="0" rIns="0" bIns="0" rtlCol="0" anchor="t"/>
          <a:lstStyle/>
          <a:p>
            <a:pPr algn="l" indent="0" marL="0">
              <a:buNone/>
            </a:pPr>
            <a:r>
              <a:rPr lang="en-US" sz="1400" b="1" dirty="0">
                <a:solidFill>
                  <a:srgbClr val="FFFFFF">
                    <a:alpha val="60000"/>
                  </a:srgbClr>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539496" y="2377440"/>
            <a:ext cx="19659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Data</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Cleaning</a:t>
            </a:r>
            <a:endParaRPr lang="en-US" sz="1700" dirty="0"/>
          </a:p>
        </p:txBody>
      </p:sp>
      <p:sp>
        <p:nvSpPr>
          <p:cNvPr id="9" name="Text 7"/>
          <p:cNvSpPr/>
          <p:nvPr/>
        </p:nvSpPr>
        <p:spPr>
          <a:xfrm>
            <a:off x="539496" y="3154680"/>
            <a:ext cx="1965960"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Length filter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20–20,000 chars</a:t>
            </a:r>
            <a:endParaRPr lang="en-US" sz="1100" dirty="0"/>
          </a:p>
        </p:txBody>
      </p:sp>
      <p:sp>
        <p:nvSpPr>
          <p:cNvPr id="10" name="Shape 8"/>
          <p:cNvSpPr/>
          <p:nvPr/>
        </p:nvSpPr>
        <p:spPr>
          <a:xfrm>
            <a:off x="2523744" y="2880360"/>
            <a:ext cx="274320" cy="182880"/>
          </a:xfrm>
          <a:prstGeom prst="rightTriangle">
            <a:avLst/>
          </a:prstGeom>
          <a:solidFill>
            <a:srgbClr val="DEE2E6"/>
          </a:solidFill>
          <a:ln/>
        </p:spPr>
      </p:sp>
      <p:sp>
        <p:nvSpPr>
          <p:cNvPr id="11" name="Shape 9"/>
          <p:cNvSpPr/>
          <p:nvPr/>
        </p:nvSpPr>
        <p:spPr>
          <a:xfrm>
            <a:off x="2825496" y="2011680"/>
            <a:ext cx="1965960" cy="1920240"/>
          </a:xfrm>
          <a:prstGeom prst="roundRect">
            <a:avLst>
              <a:gd name="adj" fmla="val 4762"/>
            </a:avLst>
          </a:prstGeom>
          <a:solidFill>
            <a:srgbClr val="1C7293"/>
          </a:solidFill>
          <a:ln/>
        </p:spPr>
      </p:sp>
      <p:sp>
        <p:nvSpPr>
          <p:cNvPr id="12" name="Text 10"/>
          <p:cNvSpPr/>
          <p:nvPr/>
        </p:nvSpPr>
        <p:spPr>
          <a:xfrm>
            <a:off x="2916936" y="2103120"/>
            <a:ext cx="457200" cy="365760"/>
          </a:xfrm>
          <a:prstGeom prst="rect">
            <a:avLst/>
          </a:prstGeom>
          <a:noFill/>
          <a:ln/>
        </p:spPr>
        <p:txBody>
          <a:bodyPr wrap="square" lIns="0" tIns="0" rIns="0" bIns="0" rtlCol="0" anchor="t"/>
          <a:lstStyle/>
          <a:p>
            <a:pPr algn="l" indent="0" marL="0">
              <a:buNone/>
            </a:pPr>
            <a:r>
              <a:rPr lang="en-US" sz="1400" b="1" dirty="0">
                <a:solidFill>
                  <a:srgbClr val="FFFFFF">
                    <a:alpha val="60000"/>
                  </a:srgbClr>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2825496" y="2377440"/>
            <a:ext cx="19659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Feature</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Extraction</a:t>
            </a:r>
            <a:endParaRPr lang="en-US" sz="1700" dirty="0"/>
          </a:p>
        </p:txBody>
      </p:sp>
      <p:sp>
        <p:nvSpPr>
          <p:cNvPr id="14" name="Text 12"/>
          <p:cNvSpPr/>
          <p:nvPr/>
        </p:nvSpPr>
        <p:spPr>
          <a:xfrm>
            <a:off x="2825496" y="3154680"/>
            <a:ext cx="1965960"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TF-IDF</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5,000 features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unigrams + bigrams</a:t>
            </a:r>
            <a:endParaRPr lang="en-US" sz="1100" dirty="0"/>
          </a:p>
        </p:txBody>
      </p:sp>
      <p:sp>
        <p:nvSpPr>
          <p:cNvPr id="15" name="Shape 13"/>
          <p:cNvSpPr/>
          <p:nvPr/>
        </p:nvSpPr>
        <p:spPr>
          <a:xfrm>
            <a:off x="4809744" y="2880360"/>
            <a:ext cx="274320" cy="182880"/>
          </a:xfrm>
          <a:prstGeom prst="rightTriangle">
            <a:avLst/>
          </a:prstGeom>
          <a:solidFill>
            <a:srgbClr val="DEE2E6"/>
          </a:solidFill>
          <a:ln/>
        </p:spPr>
      </p:sp>
      <p:sp>
        <p:nvSpPr>
          <p:cNvPr id="16" name="Shape 14"/>
          <p:cNvSpPr/>
          <p:nvPr/>
        </p:nvSpPr>
        <p:spPr>
          <a:xfrm>
            <a:off x="5111496" y="2011680"/>
            <a:ext cx="1965960" cy="1920240"/>
          </a:xfrm>
          <a:prstGeom prst="roundRect">
            <a:avLst>
              <a:gd name="adj" fmla="val 4762"/>
            </a:avLst>
          </a:prstGeom>
          <a:solidFill>
            <a:srgbClr val="2A9D8F"/>
          </a:solidFill>
          <a:ln/>
        </p:spPr>
      </p:sp>
      <p:sp>
        <p:nvSpPr>
          <p:cNvPr id="17" name="Text 15"/>
          <p:cNvSpPr/>
          <p:nvPr/>
        </p:nvSpPr>
        <p:spPr>
          <a:xfrm>
            <a:off x="5202936" y="2103120"/>
            <a:ext cx="457200" cy="365760"/>
          </a:xfrm>
          <a:prstGeom prst="rect">
            <a:avLst/>
          </a:prstGeom>
          <a:noFill/>
          <a:ln/>
        </p:spPr>
        <p:txBody>
          <a:bodyPr wrap="square" lIns="0" tIns="0" rIns="0" bIns="0" rtlCol="0" anchor="t"/>
          <a:lstStyle/>
          <a:p>
            <a:pPr algn="l" indent="0" marL="0">
              <a:buNone/>
            </a:pPr>
            <a:r>
              <a:rPr lang="en-US" sz="1400" b="1" dirty="0">
                <a:solidFill>
                  <a:srgbClr val="FFFFFF">
                    <a:alpha val="60000"/>
                  </a:srgbClr>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5111496" y="2377440"/>
            <a:ext cx="19659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Train/Test</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Split</a:t>
            </a:r>
            <a:endParaRPr lang="en-US" sz="1700" dirty="0"/>
          </a:p>
        </p:txBody>
      </p:sp>
      <p:sp>
        <p:nvSpPr>
          <p:cNvPr id="19" name="Text 17"/>
          <p:cNvSpPr/>
          <p:nvPr/>
        </p:nvSpPr>
        <p:spPr>
          <a:xfrm>
            <a:off x="5111496" y="3154680"/>
            <a:ext cx="1965960"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80% / 20%</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stratified</a:t>
            </a:r>
            <a:endParaRPr lang="en-US" sz="1100" dirty="0"/>
          </a:p>
        </p:txBody>
      </p:sp>
      <p:sp>
        <p:nvSpPr>
          <p:cNvPr id="20" name="Shape 18"/>
          <p:cNvSpPr/>
          <p:nvPr/>
        </p:nvSpPr>
        <p:spPr>
          <a:xfrm>
            <a:off x="7095744" y="2880360"/>
            <a:ext cx="274320" cy="182880"/>
          </a:xfrm>
          <a:prstGeom prst="rightTriangle">
            <a:avLst/>
          </a:prstGeom>
          <a:solidFill>
            <a:srgbClr val="DEE2E6"/>
          </a:solidFill>
          <a:ln/>
        </p:spPr>
      </p:sp>
      <p:sp>
        <p:nvSpPr>
          <p:cNvPr id="21" name="Shape 19"/>
          <p:cNvSpPr/>
          <p:nvPr/>
        </p:nvSpPr>
        <p:spPr>
          <a:xfrm>
            <a:off x="7397496" y="2011680"/>
            <a:ext cx="1965960" cy="1920240"/>
          </a:xfrm>
          <a:prstGeom prst="roundRect">
            <a:avLst>
              <a:gd name="adj" fmla="val 4762"/>
            </a:avLst>
          </a:prstGeom>
          <a:solidFill>
            <a:srgbClr val="F4A261"/>
          </a:solidFill>
          <a:ln/>
        </p:spPr>
      </p:sp>
      <p:sp>
        <p:nvSpPr>
          <p:cNvPr id="22" name="Text 20"/>
          <p:cNvSpPr/>
          <p:nvPr/>
        </p:nvSpPr>
        <p:spPr>
          <a:xfrm>
            <a:off x="7488936" y="2103120"/>
            <a:ext cx="457200" cy="365760"/>
          </a:xfrm>
          <a:prstGeom prst="rect">
            <a:avLst/>
          </a:prstGeom>
          <a:noFill/>
          <a:ln/>
        </p:spPr>
        <p:txBody>
          <a:bodyPr wrap="square" lIns="0" tIns="0" rIns="0" bIns="0" rtlCol="0" anchor="t"/>
          <a:lstStyle/>
          <a:p>
            <a:pPr algn="l" indent="0" marL="0">
              <a:buNone/>
            </a:pPr>
            <a:r>
              <a:rPr lang="en-US" sz="1400" b="1" dirty="0">
                <a:solidFill>
                  <a:srgbClr val="FFFFFF">
                    <a:alpha val="60000"/>
                  </a:srgbClr>
                </a:solidFill>
                <a:latin typeface="Cambria" pitchFamily="34" charset="0"/>
                <a:ea typeface="Cambria" pitchFamily="34" charset="-122"/>
                <a:cs typeface="Cambria" pitchFamily="34" charset="-120"/>
              </a:rPr>
              <a:t>4</a:t>
            </a:r>
            <a:endParaRPr lang="en-US" sz="1400" dirty="0"/>
          </a:p>
        </p:txBody>
      </p:sp>
      <p:sp>
        <p:nvSpPr>
          <p:cNvPr id="23" name="Text 21"/>
          <p:cNvSpPr/>
          <p:nvPr/>
        </p:nvSpPr>
        <p:spPr>
          <a:xfrm>
            <a:off x="7397496" y="2377440"/>
            <a:ext cx="19659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Model</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Training</a:t>
            </a:r>
            <a:endParaRPr lang="en-US" sz="1700" dirty="0"/>
          </a:p>
        </p:txBody>
      </p:sp>
      <p:sp>
        <p:nvSpPr>
          <p:cNvPr id="24" name="Text 22"/>
          <p:cNvSpPr/>
          <p:nvPr/>
        </p:nvSpPr>
        <p:spPr>
          <a:xfrm>
            <a:off x="7397496" y="3154680"/>
            <a:ext cx="1965960"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4 classifiers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same features</a:t>
            </a:r>
            <a:endParaRPr lang="en-US" sz="1100" dirty="0"/>
          </a:p>
        </p:txBody>
      </p:sp>
      <p:sp>
        <p:nvSpPr>
          <p:cNvPr id="25" name="Shape 23"/>
          <p:cNvSpPr/>
          <p:nvPr/>
        </p:nvSpPr>
        <p:spPr>
          <a:xfrm>
            <a:off x="9381744" y="2880360"/>
            <a:ext cx="274320" cy="182880"/>
          </a:xfrm>
          <a:prstGeom prst="rightTriangle">
            <a:avLst/>
          </a:prstGeom>
          <a:solidFill>
            <a:srgbClr val="DEE2E6"/>
          </a:solidFill>
          <a:ln/>
        </p:spPr>
      </p:sp>
      <p:sp>
        <p:nvSpPr>
          <p:cNvPr id="26" name="Shape 24"/>
          <p:cNvSpPr/>
          <p:nvPr/>
        </p:nvSpPr>
        <p:spPr>
          <a:xfrm>
            <a:off x="9683496" y="2011680"/>
            <a:ext cx="1965960" cy="1920240"/>
          </a:xfrm>
          <a:prstGeom prst="roundRect">
            <a:avLst>
              <a:gd name="adj" fmla="val 4762"/>
            </a:avLst>
          </a:prstGeom>
          <a:solidFill>
            <a:srgbClr val="E63946"/>
          </a:solidFill>
          <a:ln/>
        </p:spPr>
      </p:sp>
      <p:sp>
        <p:nvSpPr>
          <p:cNvPr id="27" name="Text 25"/>
          <p:cNvSpPr/>
          <p:nvPr/>
        </p:nvSpPr>
        <p:spPr>
          <a:xfrm>
            <a:off x="9774936" y="2103120"/>
            <a:ext cx="457200" cy="365760"/>
          </a:xfrm>
          <a:prstGeom prst="rect">
            <a:avLst/>
          </a:prstGeom>
          <a:noFill/>
          <a:ln/>
        </p:spPr>
        <p:txBody>
          <a:bodyPr wrap="square" lIns="0" tIns="0" rIns="0" bIns="0" rtlCol="0" anchor="t"/>
          <a:lstStyle/>
          <a:p>
            <a:pPr algn="l" indent="0" marL="0">
              <a:buNone/>
            </a:pPr>
            <a:r>
              <a:rPr lang="en-US" sz="1400" b="1" dirty="0">
                <a:solidFill>
                  <a:srgbClr val="FFFFFF">
                    <a:alpha val="60000"/>
                  </a:srgbClr>
                </a:solidFill>
                <a:latin typeface="Cambria" pitchFamily="34" charset="0"/>
                <a:ea typeface="Cambria" pitchFamily="34" charset="-122"/>
                <a:cs typeface="Cambria" pitchFamily="34" charset="-120"/>
              </a:rPr>
              <a:t>5</a:t>
            </a:r>
            <a:endParaRPr lang="en-US" sz="1400" dirty="0"/>
          </a:p>
        </p:txBody>
      </p:sp>
      <p:sp>
        <p:nvSpPr>
          <p:cNvPr id="28" name="Text 26"/>
          <p:cNvSpPr/>
          <p:nvPr/>
        </p:nvSpPr>
        <p:spPr>
          <a:xfrm>
            <a:off x="9683496" y="2377440"/>
            <a:ext cx="19659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Evaluation</a:t>
            </a:r>
            <a:endParaRPr lang="en-US" sz="1700" dirty="0"/>
          </a:p>
        </p:txBody>
      </p:sp>
      <p:sp>
        <p:nvSpPr>
          <p:cNvPr id="29" name="Text 27"/>
          <p:cNvSpPr/>
          <p:nvPr/>
        </p:nvSpPr>
        <p:spPr>
          <a:xfrm>
            <a:off x="9683496" y="3154680"/>
            <a:ext cx="1965960"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Accuracy, Prec.,</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Recall, F1</a:t>
            </a:r>
            <a:endParaRPr lang="en-US" sz="1100" dirty="0"/>
          </a:p>
        </p:txBody>
      </p:sp>
      <p:sp>
        <p:nvSpPr>
          <p:cNvPr id="30" name="Shape 28"/>
          <p:cNvSpPr/>
          <p:nvPr/>
        </p:nvSpPr>
        <p:spPr>
          <a:xfrm>
            <a:off x="640080" y="4937760"/>
            <a:ext cx="10972800" cy="1097280"/>
          </a:xfrm>
          <a:prstGeom prst="roundRect">
            <a:avLst>
              <a:gd name="adj" fmla="val 8333"/>
            </a:avLst>
          </a:prstGeom>
          <a:solidFill>
            <a:srgbClr val="F8F9FA"/>
          </a:solidFill>
          <a:ln/>
        </p:spPr>
      </p:sp>
      <p:sp>
        <p:nvSpPr>
          <p:cNvPr id="31" name="Text 29"/>
          <p:cNvSpPr/>
          <p:nvPr/>
        </p:nvSpPr>
        <p:spPr>
          <a:xfrm>
            <a:off x="914400" y="4937760"/>
            <a:ext cx="10515600" cy="1097280"/>
          </a:xfrm>
          <a:prstGeom prst="rect">
            <a:avLst/>
          </a:prstGeom>
          <a:noFill/>
          <a:ln/>
        </p:spPr>
        <p:txBody>
          <a:bodyPr wrap="square" lIns="0" tIns="0" rIns="0" bIns="0" rtlCol="0" anchor="ctr"/>
          <a:lstStyle/>
          <a:p>
            <a:pPr algn="ctr" indent="0" marL="0">
              <a:buNone/>
            </a:pPr>
            <a:r>
              <a:rPr lang="en-US" sz="1400" i="1" dirty="0">
                <a:solidFill>
                  <a:srgbClr val="1D3557"/>
                </a:solidFill>
                <a:latin typeface="Calibri" pitchFamily="34" charset="0"/>
                <a:ea typeface="Calibri" pitchFamily="34" charset="-122"/>
                <a:cs typeface="Calibri" pitchFamily="34" charset="-120"/>
              </a:rPr>
              <a:t>Every model receives the same 5,000-feature TF-IDF matrix — this ensures a fair comparison.</a:t>
            </a:r>
            <a:endParaRPr lang="en-US" sz="1400" dirty="0"/>
          </a:p>
        </p:txBody>
      </p:sp>
      <p:sp>
        <p:nvSpPr>
          <p:cNvPr id="32" name="Text 30"/>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33" name="Text 3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Methodology — Feature Engineering</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Shape 4"/>
          <p:cNvSpPr/>
          <p:nvPr/>
        </p:nvSpPr>
        <p:spPr>
          <a:xfrm>
            <a:off x="640080" y="1371600"/>
            <a:ext cx="5394960" cy="4663440"/>
          </a:xfrm>
          <a:prstGeom prst="roundRect">
            <a:avLst>
              <a:gd name="adj" fmla="val 1569"/>
            </a:avLst>
          </a:prstGeom>
          <a:solidFill>
            <a:srgbClr val="F8F9FA"/>
          </a:solidFill>
          <a:ln/>
        </p:spPr>
      </p:sp>
      <p:sp>
        <p:nvSpPr>
          <p:cNvPr id="7" name="Text 5"/>
          <p:cNvSpPr/>
          <p:nvPr/>
        </p:nvSpPr>
        <p:spPr>
          <a:xfrm>
            <a:off x="914400" y="1554480"/>
            <a:ext cx="4937760" cy="457200"/>
          </a:xfrm>
          <a:prstGeom prst="rect">
            <a:avLst/>
          </a:prstGeom>
          <a:noFill/>
          <a:ln/>
        </p:spPr>
        <p:txBody>
          <a:bodyPr wrap="square" lIns="0" tIns="0" rIns="0" bIns="0" rtlCol="0" anchor="ctr"/>
          <a:lstStyle/>
          <a:p>
            <a:pPr algn="l" indent="0" marL="0">
              <a:buNone/>
            </a:pPr>
            <a:r>
              <a:rPr lang="en-US" sz="2000" b="1" dirty="0">
                <a:solidFill>
                  <a:srgbClr val="0F2942"/>
                </a:solidFill>
                <a:latin typeface="Cambria" pitchFamily="34" charset="0"/>
                <a:ea typeface="Cambria" pitchFamily="34" charset="-122"/>
                <a:cs typeface="Cambria" pitchFamily="34" charset="-120"/>
              </a:rPr>
              <a:t>TF-IDF Vectorisation</a:t>
            </a:r>
            <a:endParaRPr lang="en-US" sz="2000" dirty="0"/>
          </a:p>
        </p:txBody>
      </p:sp>
      <p:sp>
        <p:nvSpPr>
          <p:cNvPr id="8" name="Text 6"/>
          <p:cNvSpPr/>
          <p:nvPr/>
        </p:nvSpPr>
        <p:spPr>
          <a:xfrm>
            <a:off x="914400" y="1965960"/>
            <a:ext cx="4937760" cy="320040"/>
          </a:xfrm>
          <a:prstGeom prst="rect">
            <a:avLst/>
          </a:prstGeom>
          <a:noFill/>
          <a:ln/>
        </p:spPr>
        <p:txBody>
          <a:bodyPr wrap="square" lIns="0" tIns="0" rIns="0" bIns="0" rtlCol="0" anchor="ctr"/>
          <a:lstStyle/>
          <a:p>
            <a:pPr algn="l" indent="0" marL="0">
              <a:buNone/>
            </a:pPr>
            <a:r>
              <a:rPr lang="en-US" sz="1100" i="1" dirty="0">
                <a:solidFill>
                  <a:srgbClr val="6C757D"/>
                </a:solidFill>
                <a:latin typeface="Calibri" pitchFamily="34" charset="0"/>
                <a:ea typeface="Calibri" pitchFamily="34" charset="-122"/>
                <a:cs typeface="Calibri" pitchFamily="34" charset="-120"/>
              </a:rPr>
              <a:t>Term Frequency × Inverse Document Frequency</a:t>
            </a:r>
            <a:endParaRPr lang="en-US" sz="1100" dirty="0"/>
          </a:p>
        </p:txBody>
      </p:sp>
      <p:sp>
        <p:nvSpPr>
          <p:cNvPr id="9" name="Text 7"/>
          <p:cNvSpPr/>
          <p:nvPr/>
        </p:nvSpPr>
        <p:spPr>
          <a:xfrm>
            <a:off x="914400" y="2423160"/>
            <a:ext cx="4937760" cy="2286000"/>
          </a:xfrm>
          <a:prstGeom prst="rect">
            <a:avLst/>
          </a:prstGeom>
          <a:noFill/>
          <a:ln/>
        </p:spPr>
        <p:txBody>
          <a:bodyPr wrap="square" rtlCol="0" anchor="ctr"/>
          <a:lstStyle/>
          <a:p>
            <a:pPr algn="l" marL="342900" indent="-342900">
              <a:spcAft>
                <a:spcPts val="600"/>
              </a:spcAft>
              <a:buSzPct val="100000"/>
              <a:buChar char="▪"/>
            </a:pPr>
            <a:r>
              <a:rPr lang="en-US" sz="1300" dirty="0">
                <a:solidFill>
                  <a:srgbClr val="1D3557"/>
                </a:solidFill>
                <a:latin typeface="Calibri" pitchFamily="34" charset="0"/>
                <a:ea typeface="Calibri" pitchFamily="34" charset="-122"/>
                <a:cs typeface="Calibri" pitchFamily="34" charset="-120"/>
              </a:rPr>
              <a:t>max_features = 5,000</a:t>
            </a:r>
            <a:endParaRPr lang="en-US" sz="1300" dirty="0"/>
          </a:p>
          <a:p>
            <a:pPr algn="l" marL="342900" indent="-342900">
              <a:spcAft>
                <a:spcPts val="600"/>
              </a:spcAft>
              <a:buSzPct val="100000"/>
              <a:buChar char="▪"/>
            </a:pPr>
            <a:r>
              <a:rPr lang="en-US" sz="1300" dirty="0">
                <a:solidFill>
                  <a:srgbClr val="1D3557"/>
                </a:solidFill>
                <a:latin typeface="Calibri" pitchFamily="34" charset="0"/>
                <a:ea typeface="Calibri" pitchFamily="34" charset="-122"/>
                <a:cs typeface="Calibri" pitchFamily="34" charset="-120"/>
              </a:rPr>
              <a:t>ngram_range = (1, 2)  → unigrams &amp; bigrams</a:t>
            </a:r>
            <a:endParaRPr lang="en-US" sz="1300" dirty="0"/>
          </a:p>
          <a:p>
            <a:pPr algn="l" marL="342900" indent="-342900">
              <a:spcAft>
                <a:spcPts val="600"/>
              </a:spcAft>
              <a:buSzPct val="100000"/>
              <a:buChar char="▪"/>
            </a:pPr>
            <a:r>
              <a:rPr lang="en-US" sz="1300" dirty="0">
                <a:solidFill>
                  <a:srgbClr val="1D3557"/>
                </a:solidFill>
                <a:latin typeface="Calibri" pitchFamily="34" charset="0"/>
                <a:ea typeface="Calibri" pitchFamily="34" charset="-122"/>
                <a:cs typeface="Calibri" pitchFamily="34" charset="-120"/>
              </a:rPr>
              <a:t>min_df = 5  → drop very rare words</a:t>
            </a:r>
            <a:endParaRPr lang="en-US" sz="1300" dirty="0"/>
          </a:p>
          <a:p>
            <a:pPr algn="l" marL="342900" indent="-342900">
              <a:buSzPct val="100000"/>
              <a:buChar char="▪"/>
            </a:pPr>
            <a:r>
              <a:rPr lang="en-US" sz="1300" dirty="0">
                <a:solidFill>
                  <a:srgbClr val="1D3557"/>
                </a:solidFill>
                <a:latin typeface="Calibri" pitchFamily="34" charset="0"/>
                <a:ea typeface="Calibri" pitchFamily="34" charset="-122"/>
                <a:cs typeface="Calibri" pitchFamily="34" charset="-120"/>
              </a:rPr>
              <a:t>max_df = 0.7  → drop very common words</a:t>
            </a:r>
            <a:endParaRPr lang="en-US" sz="1300" dirty="0"/>
          </a:p>
        </p:txBody>
      </p:sp>
      <p:sp>
        <p:nvSpPr>
          <p:cNvPr id="10" name="Text 8"/>
          <p:cNvSpPr/>
          <p:nvPr/>
        </p:nvSpPr>
        <p:spPr>
          <a:xfrm>
            <a:off x="914400" y="4754880"/>
            <a:ext cx="4937760" cy="365760"/>
          </a:xfrm>
          <a:prstGeom prst="rect">
            <a:avLst/>
          </a:prstGeom>
          <a:noFill/>
          <a:ln/>
        </p:spPr>
        <p:txBody>
          <a:bodyPr wrap="square" lIns="0" tIns="0" rIns="0" bIns="0" rtlCol="0" anchor="ctr"/>
          <a:lstStyle/>
          <a:p>
            <a:pPr algn="l" indent="0" marL="0">
              <a:buNone/>
            </a:pPr>
            <a:r>
              <a:rPr lang="en-US" sz="1400" b="1" dirty="0">
                <a:solidFill>
                  <a:srgbClr val="2A9D8F"/>
                </a:solidFill>
                <a:latin typeface="Cambria" pitchFamily="34" charset="0"/>
                <a:ea typeface="Cambria" pitchFamily="34" charset="-122"/>
                <a:cs typeface="Cambria" pitchFamily="34" charset="-120"/>
              </a:rPr>
              <a:t>Why TF-IDF?</a:t>
            </a:r>
            <a:endParaRPr lang="en-US" sz="1400" dirty="0"/>
          </a:p>
        </p:txBody>
      </p:sp>
      <p:sp>
        <p:nvSpPr>
          <p:cNvPr id="11" name="Text 9"/>
          <p:cNvSpPr/>
          <p:nvPr/>
        </p:nvSpPr>
        <p:spPr>
          <a:xfrm>
            <a:off x="914400" y="5120640"/>
            <a:ext cx="4937760" cy="914400"/>
          </a:xfrm>
          <a:prstGeom prst="rect">
            <a:avLst/>
          </a:prstGeom>
          <a:noFill/>
          <a:ln/>
        </p:spPr>
        <p:txBody>
          <a:bodyPr wrap="square" lIns="0" tIns="0" rIns="0" bIns="0" rtlCol="0" anchor="ctr"/>
          <a:lstStyle/>
          <a:p>
            <a:pPr algn="l" indent="0" marL="0">
              <a:buNone/>
            </a:pPr>
            <a:r>
              <a:rPr lang="en-US" sz="1200" i="1" dirty="0">
                <a:solidFill>
                  <a:srgbClr val="1D3557"/>
                </a:solidFill>
                <a:latin typeface="Calibri" pitchFamily="34" charset="0"/>
                <a:ea typeface="Calibri" pitchFamily="34" charset="-122"/>
                <a:cs typeface="Calibri" pitchFamily="34" charset="-120"/>
              </a:rPr>
              <a:t>Boosts words that are frequent in a specific email but rare across the corpus — exactly the kind of tokens that identify phishing language.</a:t>
            </a:r>
            <a:endParaRPr lang="en-US" sz="1200" dirty="0"/>
          </a:p>
        </p:txBody>
      </p:sp>
      <p:sp>
        <p:nvSpPr>
          <p:cNvPr id="12" name="Shape 10"/>
          <p:cNvSpPr/>
          <p:nvPr/>
        </p:nvSpPr>
        <p:spPr>
          <a:xfrm>
            <a:off x="6309360" y="1371600"/>
            <a:ext cx="5394960" cy="4663440"/>
          </a:xfrm>
          <a:prstGeom prst="roundRect">
            <a:avLst>
              <a:gd name="adj" fmla="val 1569"/>
            </a:avLst>
          </a:prstGeom>
          <a:solidFill>
            <a:srgbClr val="F8F9FA"/>
          </a:solidFill>
          <a:ln/>
        </p:spPr>
      </p:sp>
      <p:sp>
        <p:nvSpPr>
          <p:cNvPr id="13" name="Text 11"/>
          <p:cNvSpPr/>
          <p:nvPr/>
        </p:nvSpPr>
        <p:spPr>
          <a:xfrm>
            <a:off x="6583680" y="1554480"/>
            <a:ext cx="4937760" cy="457200"/>
          </a:xfrm>
          <a:prstGeom prst="rect">
            <a:avLst/>
          </a:prstGeom>
          <a:noFill/>
          <a:ln/>
        </p:spPr>
        <p:txBody>
          <a:bodyPr wrap="square" lIns="0" tIns="0" rIns="0" bIns="0" rtlCol="0" anchor="ctr"/>
          <a:lstStyle/>
          <a:p>
            <a:pPr algn="l" indent="0" marL="0">
              <a:buNone/>
            </a:pPr>
            <a:r>
              <a:rPr lang="en-US" sz="2000" b="1" dirty="0">
                <a:solidFill>
                  <a:srgbClr val="0F2942"/>
                </a:solidFill>
                <a:latin typeface="Cambria" pitchFamily="34" charset="0"/>
                <a:ea typeface="Cambria" pitchFamily="34" charset="-122"/>
                <a:cs typeface="Cambria" pitchFamily="34" charset="-120"/>
              </a:rPr>
              <a:t>Handcrafted Features</a:t>
            </a:r>
            <a:endParaRPr lang="en-US" sz="2000" dirty="0"/>
          </a:p>
        </p:txBody>
      </p:sp>
      <p:sp>
        <p:nvSpPr>
          <p:cNvPr id="14" name="Text 12"/>
          <p:cNvSpPr/>
          <p:nvPr/>
        </p:nvSpPr>
        <p:spPr>
          <a:xfrm>
            <a:off x="6583680" y="1965960"/>
            <a:ext cx="4937760" cy="320040"/>
          </a:xfrm>
          <a:prstGeom prst="rect">
            <a:avLst/>
          </a:prstGeom>
          <a:noFill/>
          <a:ln/>
        </p:spPr>
        <p:txBody>
          <a:bodyPr wrap="square" lIns="0" tIns="0" rIns="0" bIns="0" rtlCol="0" anchor="ctr"/>
          <a:lstStyle/>
          <a:p>
            <a:pPr algn="l" indent="0" marL="0">
              <a:buNone/>
            </a:pPr>
            <a:r>
              <a:rPr lang="en-US" sz="1100" i="1" dirty="0">
                <a:solidFill>
                  <a:srgbClr val="6C757D"/>
                </a:solidFill>
                <a:latin typeface="Calibri" pitchFamily="34" charset="0"/>
                <a:ea typeface="Calibri" pitchFamily="34" charset="-122"/>
                <a:cs typeface="Calibri" pitchFamily="34" charset="-120"/>
              </a:rPr>
              <a:t>Exploratory signals from suspicious keywords</a:t>
            </a:r>
            <a:endParaRPr lang="en-US" sz="1100" dirty="0"/>
          </a:p>
        </p:txBody>
      </p:sp>
      <p:sp>
        <p:nvSpPr>
          <p:cNvPr id="15" name="Text 13"/>
          <p:cNvSpPr/>
          <p:nvPr/>
        </p:nvSpPr>
        <p:spPr>
          <a:xfrm>
            <a:off x="6583680" y="2514600"/>
            <a:ext cx="4937760" cy="365760"/>
          </a:xfrm>
          <a:prstGeom prst="rect">
            <a:avLst/>
          </a:prstGeom>
          <a:noFill/>
          <a:ln/>
        </p:spPr>
        <p:txBody>
          <a:bodyPr wrap="square" lIns="0" tIns="0" rIns="0" bIns="0" rtlCol="0" anchor="ctr"/>
          <a:lstStyle/>
          <a:p>
            <a:pPr algn="l" indent="0" marL="0">
              <a:buNone/>
            </a:pPr>
            <a:r>
              <a:rPr lang="en-US" sz="1200" b="1" dirty="0">
                <a:solidFill>
                  <a:srgbClr val="1D3557"/>
                </a:solidFill>
                <a:latin typeface="Calibri" pitchFamily="34" charset="0"/>
                <a:ea typeface="Calibri" pitchFamily="34" charset="-122"/>
                <a:cs typeface="Calibri" pitchFamily="34" charset="-120"/>
              </a:rPr>
              <a:t>Average Suspicious Words per Email</a:t>
            </a:r>
            <a:endParaRPr lang="en-US" sz="1200" dirty="0"/>
          </a:p>
        </p:txBody>
      </p:sp>
      <p:sp>
        <p:nvSpPr>
          <p:cNvPr id="16" name="Shape 14"/>
          <p:cNvSpPr/>
          <p:nvPr/>
        </p:nvSpPr>
        <p:spPr>
          <a:xfrm>
            <a:off x="6583680" y="2971800"/>
            <a:ext cx="2331720" cy="457200"/>
          </a:xfrm>
          <a:prstGeom prst="rect">
            <a:avLst/>
          </a:prstGeom>
          <a:solidFill>
            <a:srgbClr val="2A9D8F"/>
          </a:solidFill>
          <a:ln/>
        </p:spPr>
      </p:sp>
      <p:sp>
        <p:nvSpPr>
          <p:cNvPr id="17" name="Text 15"/>
          <p:cNvSpPr/>
          <p:nvPr/>
        </p:nvSpPr>
        <p:spPr>
          <a:xfrm>
            <a:off x="6583680" y="2971800"/>
            <a:ext cx="23317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Legit  |  3.61</a:t>
            </a:r>
            <a:endParaRPr lang="en-US" sz="1200" dirty="0"/>
          </a:p>
        </p:txBody>
      </p:sp>
      <p:sp>
        <p:nvSpPr>
          <p:cNvPr id="18" name="Shape 16"/>
          <p:cNvSpPr/>
          <p:nvPr/>
        </p:nvSpPr>
        <p:spPr>
          <a:xfrm>
            <a:off x="6583680" y="3520440"/>
            <a:ext cx="4206240" cy="457200"/>
          </a:xfrm>
          <a:prstGeom prst="rect">
            <a:avLst/>
          </a:prstGeom>
          <a:solidFill>
            <a:srgbClr val="E63946"/>
          </a:solidFill>
          <a:ln/>
        </p:spPr>
      </p:sp>
      <p:sp>
        <p:nvSpPr>
          <p:cNvPr id="19" name="Text 17"/>
          <p:cNvSpPr/>
          <p:nvPr/>
        </p:nvSpPr>
        <p:spPr>
          <a:xfrm>
            <a:off x="6583680" y="3520440"/>
            <a:ext cx="42062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Phishing  |  6.52</a:t>
            </a:r>
            <a:endParaRPr lang="en-US" sz="1200" dirty="0"/>
          </a:p>
        </p:txBody>
      </p:sp>
      <p:sp>
        <p:nvSpPr>
          <p:cNvPr id="20" name="Text 18"/>
          <p:cNvSpPr/>
          <p:nvPr/>
        </p:nvSpPr>
        <p:spPr>
          <a:xfrm>
            <a:off x="6583680" y="4160520"/>
            <a:ext cx="4937760" cy="457200"/>
          </a:xfrm>
          <a:prstGeom prst="rect">
            <a:avLst/>
          </a:prstGeom>
          <a:noFill/>
          <a:ln/>
        </p:spPr>
        <p:txBody>
          <a:bodyPr wrap="square" lIns="0" tIns="0" rIns="0" bIns="0" rtlCol="0" anchor="ctr"/>
          <a:lstStyle/>
          <a:p>
            <a:pPr algn="l" indent="0" marL="0">
              <a:buNone/>
            </a:pPr>
            <a:r>
              <a:rPr lang="en-US" sz="2000" b="1" dirty="0">
                <a:solidFill>
                  <a:srgbClr val="E63946"/>
                </a:solidFill>
                <a:latin typeface="Cambria" pitchFamily="34" charset="0"/>
                <a:ea typeface="Cambria" pitchFamily="34" charset="-122"/>
                <a:cs typeface="Cambria" pitchFamily="34" charset="-120"/>
              </a:rPr>
              <a:t>1.8×</a:t>
            </a:r>
            <a:pPr algn="l" indent="0" marL="0">
              <a:buNone/>
            </a:pPr>
            <a:r>
              <a:rPr lang="en-US" sz="1200" dirty="0">
                <a:solidFill>
                  <a:srgbClr val="1D3557"/>
                </a:solidFill>
                <a:latin typeface="Calibri" pitchFamily="34" charset="0"/>
                <a:ea typeface="Calibri" pitchFamily="34" charset="-122"/>
                <a:cs typeface="Calibri" pitchFamily="34" charset="-120"/>
              </a:rPr>
              <a:t>  more suspicious words in phishing emails</a:t>
            </a:r>
            <a:endParaRPr lang="en-US" sz="2000" dirty="0"/>
          </a:p>
        </p:txBody>
      </p:sp>
      <p:sp>
        <p:nvSpPr>
          <p:cNvPr id="21" name="Text 19"/>
          <p:cNvSpPr/>
          <p:nvPr/>
        </p:nvSpPr>
        <p:spPr>
          <a:xfrm>
            <a:off x="6583680" y="4754880"/>
            <a:ext cx="4937760" cy="320040"/>
          </a:xfrm>
          <a:prstGeom prst="rect">
            <a:avLst/>
          </a:prstGeom>
          <a:noFill/>
          <a:ln/>
        </p:spPr>
        <p:txBody>
          <a:bodyPr wrap="square" lIns="0" tIns="0" rIns="0" bIns="0" rtlCol="0" anchor="ctr"/>
          <a:lstStyle/>
          <a:p>
            <a:pPr algn="l" indent="0" marL="0">
              <a:buNone/>
            </a:pPr>
            <a:r>
              <a:rPr lang="en-US" sz="1200" b="1" dirty="0">
                <a:solidFill>
                  <a:srgbClr val="0F2942"/>
                </a:solidFill>
                <a:latin typeface="Cambria" pitchFamily="34" charset="0"/>
                <a:ea typeface="Cambria" pitchFamily="34" charset="-122"/>
                <a:cs typeface="Cambria" pitchFamily="34" charset="-120"/>
              </a:rPr>
              <a:t>Keywords tracked:</a:t>
            </a:r>
            <a:endParaRPr lang="en-US" sz="1200" dirty="0"/>
          </a:p>
        </p:txBody>
      </p:sp>
      <p:sp>
        <p:nvSpPr>
          <p:cNvPr id="22" name="Text 20"/>
          <p:cNvSpPr/>
          <p:nvPr/>
        </p:nvSpPr>
        <p:spPr>
          <a:xfrm>
            <a:off x="6583680" y="5074920"/>
            <a:ext cx="4937760" cy="1005840"/>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verify · urgent · click · account · password · login · update · confirm · winner · prize · free · expire · security · alert · bank · link · http · www</a:t>
            </a:r>
            <a:endParaRPr lang="en-US" sz="10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24" name="Text 2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Methodology — The Four Classifiers</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Shape 4"/>
          <p:cNvSpPr/>
          <p:nvPr/>
        </p:nvSpPr>
        <p:spPr>
          <a:xfrm>
            <a:off x="640080" y="1280160"/>
            <a:ext cx="5532120" cy="2148840"/>
          </a:xfrm>
          <a:prstGeom prst="roundRect">
            <a:avLst>
              <a:gd name="adj" fmla="val 3404"/>
            </a:avLst>
          </a:prstGeom>
          <a:solidFill>
            <a:srgbClr val="F8F9FA"/>
          </a:solidFill>
          <a:ln/>
        </p:spPr>
      </p:sp>
      <p:sp>
        <p:nvSpPr>
          <p:cNvPr id="7" name="Shape 5"/>
          <p:cNvSpPr/>
          <p:nvPr/>
        </p:nvSpPr>
        <p:spPr>
          <a:xfrm>
            <a:off x="640080" y="1280160"/>
            <a:ext cx="228600" cy="2148840"/>
          </a:xfrm>
          <a:prstGeom prst="rect">
            <a:avLst/>
          </a:prstGeom>
          <a:solidFill>
            <a:srgbClr val="1C7293"/>
          </a:solidFill>
          <a:ln/>
        </p:spPr>
      </p:sp>
      <p:sp>
        <p:nvSpPr>
          <p:cNvPr id="8" name="Text 6"/>
          <p:cNvSpPr/>
          <p:nvPr/>
        </p:nvSpPr>
        <p:spPr>
          <a:xfrm>
            <a:off x="1097280" y="1463040"/>
            <a:ext cx="4983480" cy="457200"/>
          </a:xfrm>
          <a:prstGeom prst="rect">
            <a:avLst/>
          </a:prstGeom>
          <a:noFill/>
          <a:ln/>
        </p:spPr>
        <p:txBody>
          <a:bodyPr wrap="square" lIns="0" tIns="0" rIns="0" bIns="0" rtlCol="0" anchor="ctr"/>
          <a:lstStyle/>
          <a:p>
            <a:pPr algn="l" indent="0" marL="0">
              <a:buNone/>
            </a:pPr>
            <a:r>
              <a:rPr lang="en-US" sz="1800" b="1" dirty="0">
                <a:solidFill>
                  <a:srgbClr val="0F2942"/>
                </a:solidFill>
                <a:latin typeface="Cambria" pitchFamily="34" charset="0"/>
                <a:ea typeface="Cambria" pitchFamily="34" charset="-122"/>
                <a:cs typeface="Cambria" pitchFamily="34" charset="-120"/>
              </a:rPr>
              <a:t>Logistic Regression</a:t>
            </a:r>
            <a:endParaRPr lang="en-US" sz="1800" dirty="0"/>
          </a:p>
        </p:txBody>
      </p:sp>
      <p:sp>
        <p:nvSpPr>
          <p:cNvPr id="9" name="Text 7"/>
          <p:cNvSpPr/>
          <p:nvPr/>
        </p:nvSpPr>
        <p:spPr>
          <a:xfrm>
            <a:off x="1097280" y="1920240"/>
            <a:ext cx="4983480" cy="320040"/>
          </a:xfrm>
          <a:prstGeom prst="rect">
            <a:avLst/>
          </a:prstGeom>
          <a:noFill/>
          <a:ln/>
        </p:spPr>
        <p:txBody>
          <a:bodyPr wrap="square" lIns="0" tIns="0" rIns="0" bIns="0" rtlCol="0" anchor="ctr"/>
          <a:lstStyle/>
          <a:p>
            <a:pPr algn="l" indent="0" marL="0">
              <a:buNone/>
            </a:pPr>
            <a:r>
              <a:rPr lang="en-US" sz="1100" b="1" spc="300" kern="0" dirty="0">
                <a:solidFill>
                  <a:srgbClr val="1C7293"/>
                </a:solidFill>
                <a:latin typeface="Calibri" pitchFamily="34" charset="0"/>
                <a:ea typeface="Calibri" pitchFamily="34" charset="-122"/>
                <a:cs typeface="Calibri" pitchFamily="34" charset="-120"/>
              </a:rPr>
              <a:t>Parametric · Linear</a:t>
            </a:r>
            <a:endParaRPr lang="en-US" sz="1100" dirty="0"/>
          </a:p>
        </p:txBody>
      </p:sp>
      <p:sp>
        <p:nvSpPr>
          <p:cNvPr id="10" name="Text 8"/>
          <p:cNvSpPr/>
          <p:nvPr/>
        </p:nvSpPr>
        <p:spPr>
          <a:xfrm>
            <a:off x="1097280" y="2286000"/>
            <a:ext cx="4983480" cy="105156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A linear model that estimates the probability of phishing from a weighted sum of features. Fast to train, highly interpretable.</a:t>
            </a:r>
            <a:endParaRPr lang="en-US" sz="1200" dirty="0"/>
          </a:p>
        </p:txBody>
      </p:sp>
      <p:sp>
        <p:nvSpPr>
          <p:cNvPr id="11" name="Shape 9"/>
          <p:cNvSpPr/>
          <p:nvPr/>
        </p:nvSpPr>
        <p:spPr>
          <a:xfrm>
            <a:off x="6309360" y="1280160"/>
            <a:ext cx="5532120" cy="2148840"/>
          </a:xfrm>
          <a:prstGeom prst="roundRect">
            <a:avLst>
              <a:gd name="adj" fmla="val 3404"/>
            </a:avLst>
          </a:prstGeom>
          <a:solidFill>
            <a:srgbClr val="F8F9FA"/>
          </a:solidFill>
          <a:ln/>
        </p:spPr>
      </p:sp>
      <p:sp>
        <p:nvSpPr>
          <p:cNvPr id="12" name="Shape 10"/>
          <p:cNvSpPr/>
          <p:nvPr/>
        </p:nvSpPr>
        <p:spPr>
          <a:xfrm>
            <a:off x="6309360" y="1280160"/>
            <a:ext cx="228600" cy="2148840"/>
          </a:xfrm>
          <a:prstGeom prst="rect">
            <a:avLst/>
          </a:prstGeom>
          <a:solidFill>
            <a:srgbClr val="2A9D8F"/>
          </a:solidFill>
          <a:ln/>
        </p:spPr>
      </p:sp>
      <p:sp>
        <p:nvSpPr>
          <p:cNvPr id="13" name="Text 11"/>
          <p:cNvSpPr/>
          <p:nvPr/>
        </p:nvSpPr>
        <p:spPr>
          <a:xfrm>
            <a:off x="6766560" y="1463040"/>
            <a:ext cx="4983480" cy="457200"/>
          </a:xfrm>
          <a:prstGeom prst="rect">
            <a:avLst/>
          </a:prstGeom>
          <a:noFill/>
          <a:ln/>
        </p:spPr>
        <p:txBody>
          <a:bodyPr wrap="square" lIns="0" tIns="0" rIns="0" bIns="0" rtlCol="0" anchor="ctr"/>
          <a:lstStyle/>
          <a:p>
            <a:pPr algn="l" indent="0" marL="0">
              <a:buNone/>
            </a:pPr>
            <a:r>
              <a:rPr lang="en-US" sz="1800" b="1" dirty="0">
                <a:solidFill>
                  <a:srgbClr val="0F2942"/>
                </a:solidFill>
                <a:latin typeface="Cambria" pitchFamily="34" charset="0"/>
                <a:ea typeface="Cambria" pitchFamily="34" charset="-122"/>
                <a:cs typeface="Cambria" pitchFamily="34" charset="-120"/>
              </a:rPr>
              <a:t>Multinomial Naive Bayes</a:t>
            </a:r>
            <a:endParaRPr lang="en-US" sz="1800" dirty="0"/>
          </a:p>
        </p:txBody>
      </p:sp>
      <p:sp>
        <p:nvSpPr>
          <p:cNvPr id="14" name="Text 12"/>
          <p:cNvSpPr/>
          <p:nvPr/>
        </p:nvSpPr>
        <p:spPr>
          <a:xfrm>
            <a:off x="6766560" y="1920240"/>
            <a:ext cx="4983480" cy="320040"/>
          </a:xfrm>
          <a:prstGeom prst="rect">
            <a:avLst/>
          </a:prstGeom>
          <a:noFill/>
          <a:ln/>
        </p:spPr>
        <p:txBody>
          <a:bodyPr wrap="square" lIns="0" tIns="0" rIns="0" bIns="0" rtlCol="0" anchor="ctr"/>
          <a:lstStyle/>
          <a:p>
            <a:pPr algn="l" indent="0" marL="0">
              <a:buNone/>
            </a:pPr>
            <a:r>
              <a:rPr lang="en-US" sz="1100" b="1" spc="300" kern="0" dirty="0">
                <a:solidFill>
                  <a:srgbClr val="2A9D8F"/>
                </a:solidFill>
                <a:latin typeface="Calibri" pitchFamily="34" charset="0"/>
                <a:ea typeface="Calibri" pitchFamily="34" charset="-122"/>
                <a:cs typeface="Calibri" pitchFamily="34" charset="-120"/>
              </a:rPr>
              <a:t>Parametric · Probabilistic</a:t>
            </a:r>
            <a:endParaRPr lang="en-US" sz="1100" dirty="0"/>
          </a:p>
        </p:txBody>
      </p:sp>
      <p:sp>
        <p:nvSpPr>
          <p:cNvPr id="15" name="Text 13"/>
          <p:cNvSpPr/>
          <p:nvPr/>
        </p:nvSpPr>
        <p:spPr>
          <a:xfrm>
            <a:off x="6766560" y="2286000"/>
            <a:ext cx="4983480" cy="105156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Applies Bayes' theorem assuming word independence. Well-suited to word-count features. Fastest of the four.</a:t>
            </a:r>
            <a:endParaRPr lang="en-US" sz="1200" dirty="0"/>
          </a:p>
        </p:txBody>
      </p:sp>
      <p:sp>
        <p:nvSpPr>
          <p:cNvPr id="16" name="Shape 14"/>
          <p:cNvSpPr/>
          <p:nvPr/>
        </p:nvSpPr>
        <p:spPr>
          <a:xfrm>
            <a:off x="640080" y="3611880"/>
            <a:ext cx="5532120" cy="2148840"/>
          </a:xfrm>
          <a:prstGeom prst="roundRect">
            <a:avLst>
              <a:gd name="adj" fmla="val 3404"/>
            </a:avLst>
          </a:prstGeom>
          <a:solidFill>
            <a:srgbClr val="F8F9FA"/>
          </a:solidFill>
          <a:ln/>
        </p:spPr>
      </p:sp>
      <p:sp>
        <p:nvSpPr>
          <p:cNvPr id="17" name="Shape 15"/>
          <p:cNvSpPr/>
          <p:nvPr/>
        </p:nvSpPr>
        <p:spPr>
          <a:xfrm>
            <a:off x="640080" y="3611880"/>
            <a:ext cx="228600" cy="2148840"/>
          </a:xfrm>
          <a:prstGeom prst="rect">
            <a:avLst/>
          </a:prstGeom>
          <a:solidFill>
            <a:srgbClr val="0F2942"/>
          </a:solidFill>
          <a:ln/>
        </p:spPr>
      </p:sp>
      <p:sp>
        <p:nvSpPr>
          <p:cNvPr id="18" name="Text 16"/>
          <p:cNvSpPr/>
          <p:nvPr/>
        </p:nvSpPr>
        <p:spPr>
          <a:xfrm>
            <a:off x="1097280" y="3794760"/>
            <a:ext cx="4983480" cy="457200"/>
          </a:xfrm>
          <a:prstGeom prst="rect">
            <a:avLst/>
          </a:prstGeom>
          <a:noFill/>
          <a:ln/>
        </p:spPr>
        <p:txBody>
          <a:bodyPr wrap="square" lIns="0" tIns="0" rIns="0" bIns="0" rtlCol="0" anchor="ctr"/>
          <a:lstStyle/>
          <a:p>
            <a:pPr algn="l" indent="0" marL="0">
              <a:buNone/>
            </a:pPr>
            <a:r>
              <a:rPr lang="en-US" sz="1800" b="1" dirty="0">
                <a:solidFill>
                  <a:srgbClr val="0F2942"/>
                </a:solidFill>
                <a:latin typeface="Cambria" pitchFamily="34" charset="0"/>
                <a:ea typeface="Cambria" pitchFamily="34" charset="-122"/>
                <a:cs typeface="Cambria" pitchFamily="34" charset="-120"/>
              </a:rPr>
              <a:t>Random Forest</a:t>
            </a:r>
            <a:endParaRPr lang="en-US" sz="1800" dirty="0"/>
          </a:p>
        </p:txBody>
      </p:sp>
      <p:sp>
        <p:nvSpPr>
          <p:cNvPr id="19" name="Text 17"/>
          <p:cNvSpPr/>
          <p:nvPr/>
        </p:nvSpPr>
        <p:spPr>
          <a:xfrm>
            <a:off x="1097280" y="4251960"/>
            <a:ext cx="4983480" cy="320040"/>
          </a:xfrm>
          <a:prstGeom prst="rect">
            <a:avLst/>
          </a:prstGeom>
          <a:noFill/>
          <a:ln/>
        </p:spPr>
        <p:txBody>
          <a:bodyPr wrap="square" lIns="0" tIns="0" rIns="0" bIns="0" rtlCol="0" anchor="ctr"/>
          <a:lstStyle/>
          <a:p>
            <a:pPr algn="l" indent="0" marL="0">
              <a:buNone/>
            </a:pPr>
            <a:r>
              <a:rPr lang="en-US" sz="1100" b="1" spc="300" kern="0" dirty="0">
                <a:solidFill>
                  <a:srgbClr val="0F2942"/>
                </a:solidFill>
                <a:latin typeface="Calibri" pitchFamily="34" charset="0"/>
                <a:ea typeface="Calibri" pitchFamily="34" charset="-122"/>
                <a:cs typeface="Calibri" pitchFamily="34" charset="-120"/>
              </a:rPr>
              <a:t>Non-Parametric · Ensemble</a:t>
            </a:r>
            <a:endParaRPr lang="en-US" sz="1100" dirty="0"/>
          </a:p>
        </p:txBody>
      </p:sp>
      <p:sp>
        <p:nvSpPr>
          <p:cNvPr id="20" name="Text 18"/>
          <p:cNvSpPr/>
          <p:nvPr/>
        </p:nvSpPr>
        <p:spPr>
          <a:xfrm>
            <a:off x="1097280" y="4617720"/>
            <a:ext cx="4983480" cy="105156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100 decision trees combined by majority vote. Captures non-linear feature interactions and doesn't assume any parametric form.</a:t>
            </a:r>
            <a:endParaRPr lang="en-US" sz="1200" dirty="0"/>
          </a:p>
        </p:txBody>
      </p:sp>
      <p:sp>
        <p:nvSpPr>
          <p:cNvPr id="21" name="Shape 19"/>
          <p:cNvSpPr/>
          <p:nvPr/>
        </p:nvSpPr>
        <p:spPr>
          <a:xfrm>
            <a:off x="6309360" y="3611880"/>
            <a:ext cx="5532120" cy="2148840"/>
          </a:xfrm>
          <a:prstGeom prst="roundRect">
            <a:avLst>
              <a:gd name="adj" fmla="val 3404"/>
            </a:avLst>
          </a:prstGeom>
          <a:solidFill>
            <a:srgbClr val="F8F9FA"/>
          </a:solidFill>
          <a:ln/>
        </p:spPr>
      </p:sp>
      <p:sp>
        <p:nvSpPr>
          <p:cNvPr id="22" name="Shape 20"/>
          <p:cNvSpPr/>
          <p:nvPr/>
        </p:nvSpPr>
        <p:spPr>
          <a:xfrm>
            <a:off x="6309360" y="3611880"/>
            <a:ext cx="228600" cy="2148840"/>
          </a:xfrm>
          <a:prstGeom prst="rect">
            <a:avLst/>
          </a:prstGeom>
          <a:solidFill>
            <a:srgbClr val="E63946"/>
          </a:solidFill>
          <a:ln/>
        </p:spPr>
      </p:sp>
      <p:sp>
        <p:nvSpPr>
          <p:cNvPr id="23" name="Text 21"/>
          <p:cNvSpPr/>
          <p:nvPr/>
        </p:nvSpPr>
        <p:spPr>
          <a:xfrm>
            <a:off x="6766560" y="3794760"/>
            <a:ext cx="4983480" cy="457200"/>
          </a:xfrm>
          <a:prstGeom prst="rect">
            <a:avLst/>
          </a:prstGeom>
          <a:noFill/>
          <a:ln/>
        </p:spPr>
        <p:txBody>
          <a:bodyPr wrap="square" lIns="0" tIns="0" rIns="0" bIns="0" rtlCol="0" anchor="ctr"/>
          <a:lstStyle/>
          <a:p>
            <a:pPr algn="l" indent="0" marL="0">
              <a:buNone/>
            </a:pPr>
            <a:r>
              <a:rPr lang="en-US" sz="1800" b="1" dirty="0">
                <a:solidFill>
                  <a:srgbClr val="0F2942"/>
                </a:solidFill>
                <a:latin typeface="Cambria" pitchFamily="34" charset="0"/>
                <a:ea typeface="Cambria" pitchFamily="34" charset="-122"/>
                <a:cs typeface="Cambria" pitchFamily="34" charset="-120"/>
              </a:rPr>
              <a:t>Neural Network (MLP)</a:t>
            </a:r>
            <a:endParaRPr lang="en-US" sz="1800" dirty="0"/>
          </a:p>
        </p:txBody>
      </p:sp>
      <p:sp>
        <p:nvSpPr>
          <p:cNvPr id="24" name="Text 22"/>
          <p:cNvSpPr/>
          <p:nvPr/>
        </p:nvSpPr>
        <p:spPr>
          <a:xfrm>
            <a:off x="6766560" y="4251960"/>
            <a:ext cx="4983480" cy="320040"/>
          </a:xfrm>
          <a:prstGeom prst="rect">
            <a:avLst/>
          </a:prstGeom>
          <a:noFill/>
          <a:ln/>
        </p:spPr>
        <p:txBody>
          <a:bodyPr wrap="square" lIns="0" tIns="0" rIns="0" bIns="0" rtlCol="0" anchor="ctr"/>
          <a:lstStyle/>
          <a:p>
            <a:pPr algn="l" indent="0" marL="0">
              <a:buNone/>
            </a:pPr>
            <a:r>
              <a:rPr lang="en-US" sz="1100" b="1" spc="300" kern="0" dirty="0">
                <a:solidFill>
                  <a:srgbClr val="E63946"/>
                </a:solidFill>
                <a:latin typeface="Calibri" pitchFamily="34" charset="0"/>
                <a:ea typeface="Calibri" pitchFamily="34" charset="-122"/>
                <a:cs typeface="Calibri" pitchFamily="34" charset="-120"/>
              </a:rPr>
              <a:t>Parametric · Deep Learning</a:t>
            </a:r>
            <a:endParaRPr lang="en-US" sz="1100" dirty="0"/>
          </a:p>
        </p:txBody>
      </p:sp>
      <p:sp>
        <p:nvSpPr>
          <p:cNvPr id="25" name="Text 23"/>
          <p:cNvSpPr/>
          <p:nvPr/>
        </p:nvSpPr>
        <p:spPr>
          <a:xfrm>
            <a:off x="6766560" y="4617720"/>
            <a:ext cx="4983480" cy="105156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Feed-forward network with 64 hidden neurons and early stopping. Learns non-linear combinations of features through backpropagation.</a:t>
            </a:r>
            <a:endParaRPr lang="en-US" sz="1200" dirty="0"/>
          </a:p>
        </p:txBody>
      </p:sp>
      <p:sp>
        <p:nvSpPr>
          <p:cNvPr id="26" name="Text 24"/>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27" name="Text 25"/>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Results — Model Performance</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72800" cy="2377440"/>
        </p:xfrm>
        <a:graphic>
          <a:graphicData uri="http://schemas.openxmlformats.org/drawingml/2006/table">
            <a:tbl>
              <a:tblPr/>
              <a:tblGrid>
                <a:gridCol w="3291840"/>
                <a:gridCol w="1920240"/>
                <a:gridCol w="1920240"/>
                <a:gridCol w="1920240"/>
                <a:gridCol w="1920240"/>
              </a:tblGrid>
              <a:tr h="457200">
                <a:tc>
                  <a:txBody>
                    <a:bodyPr/>
                    <a:lstStyle/>
                    <a:p>
                      <a:pPr algn="l" indent="0" marL="0">
                        <a:buNone/>
                      </a:pPr>
                      <a:r>
                        <a:rPr lang="en-US" sz="1300" b="1" dirty="0">
                          <a:solidFill>
                            <a:srgbClr val="FFFFFF"/>
                          </a:solidFill>
                          <a:latin typeface="Cambria" pitchFamily="34" charset="0"/>
                          <a:ea typeface="Cambria" pitchFamily="34" charset="-122"/>
                          <a:cs typeface="Cambria" pitchFamily="34" charset="-120"/>
                        </a:rPr>
                        <a:t>Model</a:t>
                      </a:r>
                      <a:endParaRPr lang="en-US" sz="1300" dirty="0">
                        <a:latin typeface="Cambria" charset="0"/>
                        <a:ea typeface="Cambria" charset="0"/>
                        <a:cs typeface="Cambria"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F2942"/>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Accuracy</a:t>
                      </a:r>
                      <a:endParaRPr lang="en-US" sz="1300" dirty="0">
                        <a:latin typeface="Cambria" charset="0"/>
                        <a:ea typeface="Cambria" charset="0"/>
                        <a:cs typeface="Cambria"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F2942"/>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Precision</a:t>
                      </a:r>
                      <a:endParaRPr lang="en-US" sz="1300" dirty="0">
                        <a:latin typeface="Cambria" charset="0"/>
                        <a:ea typeface="Cambria" charset="0"/>
                        <a:cs typeface="Cambria"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F2942"/>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Recall</a:t>
                      </a:r>
                      <a:endParaRPr lang="en-US" sz="1300" dirty="0">
                        <a:latin typeface="Cambria" charset="0"/>
                        <a:ea typeface="Cambria" charset="0"/>
                        <a:cs typeface="Cambria"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F2942"/>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F1 Score</a:t>
                      </a:r>
                      <a:endParaRPr lang="en-US" sz="1300" dirty="0">
                        <a:latin typeface="Cambria" charset="0"/>
                        <a:ea typeface="Cambria" charset="0"/>
                        <a:cs typeface="Cambria"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0F2942"/>
                    </a:solidFill>
                  </a:tcPr>
                </a:tc>
              </a:tr>
              <a:tr h="457200">
                <a:tc>
                  <a:txBody>
                    <a:bodyPr/>
                    <a:lstStyle/>
                    <a:p>
                      <a:pPr algn="l" indent="0" marL="0">
                        <a:buNone/>
                      </a:pPr>
                      <a:r>
                        <a:rPr lang="en-US" sz="1200" b="1" dirty="0">
                          <a:solidFill>
                            <a:srgbClr val="1D3557"/>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0.9825</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0.9807</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0.9858</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0.9832</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457200">
                <a:tc>
                  <a:txBody>
                    <a:bodyPr/>
                    <a:lstStyle/>
                    <a:p>
                      <a:pPr algn="l" indent="0" marL="0">
                        <a:buNone/>
                      </a:pPr>
                      <a:r>
                        <a:rPr lang="en-US" sz="1200" b="1" dirty="0">
                          <a:solidFill>
                            <a:srgbClr val="1D3557"/>
                          </a:solidFill>
                          <a:latin typeface="Calibri" pitchFamily="34" charset="0"/>
                          <a:ea typeface="Calibri" pitchFamily="34" charset="-122"/>
                          <a:cs typeface="Calibri" pitchFamily="34" charset="-120"/>
                        </a:rPr>
                        <a:t>Naive Bayes</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0.9536</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0.9845</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0.9257</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0.9542</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r>
              <a:tr h="457200">
                <a:tc>
                  <a:txBody>
                    <a:bodyPr/>
                    <a:lstStyle/>
                    <a:p>
                      <a:pPr algn="l" indent="0" marL="0">
                        <a:buNone/>
                      </a:pPr>
                      <a:r>
                        <a:rPr lang="en-US" sz="1200" b="1" dirty="0">
                          <a:solidFill>
                            <a:srgbClr val="1D3557"/>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0.9807</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0.9739</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0.9894</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2A9D8F"/>
                    </a:solidFill>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0.9816</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tcPr>
                </a:tc>
              </a:tr>
              <a:tr h="457200">
                <a:tc>
                  <a:txBody>
                    <a:bodyPr/>
                    <a:lstStyle/>
                    <a:p>
                      <a:pPr algn="l" indent="0" marL="0">
                        <a:buNone/>
                      </a:pPr>
                      <a:r>
                        <a:rPr lang="en-US" sz="1200" b="1" dirty="0">
                          <a:solidFill>
                            <a:srgbClr val="1D3557"/>
                          </a:solidFill>
                          <a:latin typeface="Calibri" pitchFamily="34" charset="0"/>
                          <a:ea typeface="Calibri" pitchFamily="34" charset="-122"/>
                          <a:cs typeface="Calibri" pitchFamily="34" charset="-120"/>
                        </a:rPr>
                        <a:t>Neural Network</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0.9844</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2A9D8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0.9864</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2A9D8F"/>
                    </a:solidFill>
                  </a:tcPr>
                </a:tc>
                <a:tc>
                  <a:txBody>
                    <a:bodyPr/>
                    <a:lstStyle/>
                    <a:p>
                      <a:pPr algn="ctr" indent="0" marL="0">
                        <a:buNone/>
                      </a:pPr>
                      <a:r>
                        <a:rPr lang="en-US" sz="1200" dirty="0">
                          <a:solidFill>
                            <a:srgbClr val="1D3557"/>
                          </a:solidFill>
                          <a:latin typeface="Calibri" pitchFamily="34" charset="0"/>
                          <a:ea typeface="Calibri" pitchFamily="34" charset="-122"/>
                          <a:cs typeface="Calibri" pitchFamily="34" charset="-120"/>
                        </a:rPr>
                        <a:t>0.9837</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0.9850</a:t>
                      </a:r>
                      <a:endParaRPr lang="en-US" sz="1200" dirty="0">
                        <a:latin typeface="Calibri" charset="0"/>
                        <a:ea typeface="Calibri" charset="0"/>
                        <a:cs typeface="Calibri" charset="0"/>
                      </a:endParaRPr>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2A9D8F"/>
                    </a:solidFill>
                  </a:tcPr>
                </a:tc>
              </a:tr>
            </a:tbl>
          </a:graphicData>
        </a:graphic>
      </p:graphicFrame>
      <p:sp>
        <p:nvSpPr>
          <p:cNvPr id="7" name="Text 4"/>
          <p:cNvSpPr/>
          <p:nvPr/>
        </p:nvSpPr>
        <p:spPr>
          <a:xfrm>
            <a:off x="640080" y="4023360"/>
            <a:ext cx="10972800" cy="365760"/>
          </a:xfrm>
          <a:prstGeom prst="rect">
            <a:avLst/>
          </a:prstGeom>
          <a:noFill/>
          <a:ln/>
        </p:spPr>
        <p:txBody>
          <a:bodyPr wrap="square" lIns="0" tIns="0" rIns="0" bIns="0" rtlCol="0" anchor="ctr"/>
          <a:lstStyle/>
          <a:p>
            <a:pPr algn="l" indent="0" marL="0">
              <a:buNone/>
            </a:pPr>
            <a:r>
              <a:rPr lang="en-US" sz="1600" b="1" dirty="0">
                <a:solidFill>
                  <a:srgbClr val="0F2942"/>
                </a:solidFill>
                <a:latin typeface="Cambria" pitchFamily="34" charset="0"/>
                <a:ea typeface="Cambria" pitchFamily="34" charset="-122"/>
                <a:cs typeface="Cambria" pitchFamily="34" charset="-120"/>
              </a:rPr>
              <a:t>Key Observation</a:t>
            </a:r>
            <a:endParaRPr lang="en-US" sz="1600" dirty="0"/>
          </a:p>
        </p:txBody>
      </p:sp>
      <p:sp>
        <p:nvSpPr>
          <p:cNvPr id="8" name="Text 5"/>
          <p:cNvSpPr/>
          <p:nvPr/>
        </p:nvSpPr>
        <p:spPr>
          <a:xfrm>
            <a:off x="640080" y="4389120"/>
            <a:ext cx="10972800" cy="1737360"/>
          </a:xfrm>
          <a:prstGeom prst="rect">
            <a:avLst/>
          </a:prstGeom>
          <a:noFill/>
          <a:ln/>
        </p:spPr>
        <p:txBody>
          <a:bodyPr wrap="square" rtlCol="0" anchor="ctr"/>
          <a:lstStyle/>
          <a:p>
            <a:pPr algn="l" marL="342900" indent="-342900">
              <a:spcAft>
                <a:spcPts val="800"/>
              </a:spcAft>
              <a:buSzPct val="100000"/>
              <a:buChar char="▪"/>
            </a:pPr>
            <a:r>
              <a:rPr lang="en-US" sz="1300" dirty="0">
                <a:solidFill>
                  <a:srgbClr val="1D3557"/>
                </a:solidFill>
                <a:latin typeface="Calibri" pitchFamily="34" charset="0"/>
                <a:ea typeface="Calibri" pitchFamily="34" charset="-122"/>
                <a:cs typeface="Calibri" pitchFamily="34" charset="-120"/>
              </a:rPr>
              <a:t>All four models exceed 0.95 F1 — TF-IDF features are highly discriminative for this task.</a:t>
            </a:r>
            <a:endParaRPr lang="en-US" sz="1300" dirty="0"/>
          </a:p>
          <a:p>
            <a:pPr algn="l" marL="342900" indent="-342900">
              <a:spcAft>
                <a:spcPts val="800"/>
              </a:spcAft>
              <a:buSzPct val="100000"/>
              <a:buChar char="▪"/>
            </a:pPr>
            <a:r>
              <a:rPr lang="en-US" sz="1300" dirty="0">
                <a:solidFill>
                  <a:srgbClr val="1D3557"/>
                </a:solidFill>
                <a:latin typeface="Calibri" pitchFamily="34" charset="0"/>
                <a:ea typeface="Calibri" pitchFamily="34" charset="-122"/>
                <a:cs typeface="Calibri" pitchFamily="34" charset="-120"/>
              </a:rPr>
              <a:t>Neural Network wins on accuracy, precision, and F1 — highest overall metric.</a:t>
            </a:r>
            <a:endParaRPr lang="en-US" sz="1300" dirty="0"/>
          </a:p>
          <a:p>
            <a:pPr algn="l" marL="342900" indent="-342900">
              <a:spcAft>
                <a:spcPts val="800"/>
              </a:spcAft>
              <a:buSzPct val="100000"/>
              <a:buChar char="▪"/>
            </a:pPr>
            <a:r>
              <a:rPr lang="en-US" sz="1300" dirty="0">
                <a:solidFill>
                  <a:srgbClr val="1D3557"/>
                </a:solidFill>
                <a:latin typeface="Calibri" pitchFamily="34" charset="0"/>
                <a:ea typeface="Calibri" pitchFamily="34" charset="-122"/>
                <a:cs typeface="Calibri" pitchFamily="34" charset="-120"/>
              </a:rPr>
              <a:t>Random Forest wins on recall — catches the most phishing emails.</a:t>
            </a:r>
            <a:endParaRPr lang="en-US" sz="1300" dirty="0"/>
          </a:p>
          <a:p>
            <a:pPr algn="l" marL="342900" indent="-342900">
              <a:buSzPct val="100000"/>
              <a:buChar char="▪"/>
            </a:pPr>
            <a:r>
              <a:rPr lang="en-US" sz="1300" dirty="0">
                <a:solidFill>
                  <a:srgbClr val="1D3557"/>
                </a:solidFill>
                <a:latin typeface="Calibri" pitchFamily="34" charset="0"/>
                <a:ea typeface="Calibri" pitchFamily="34" charset="-122"/>
                <a:cs typeface="Calibri" pitchFamily="34" charset="-120"/>
              </a:rPr>
              <a:t>Naive Bayes is the weakest — recall only 0.9257 means it misses ~7% of phishing.</a:t>
            </a:r>
            <a:endParaRPr lang="en-US" sz="1300" dirty="0"/>
          </a:p>
        </p:txBody>
      </p:sp>
      <p:sp>
        <p:nvSpPr>
          <p:cNvPr id="9" name="Text 6"/>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10"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Results — What Do the Errors Look Like?</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Text 4"/>
          <p:cNvSpPr/>
          <p:nvPr/>
        </p:nvSpPr>
        <p:spPr>
          <a:xfrm>
            <a:off x="640080" y="1280160"/>
            <a:ext cx="10972800" cy="365760"/>
          </a:xfrm>
          <a:prstGeom prst="rect">
            <a:avLst/>
          </a:prstGeom>
          <a:noFill/>
          <a:ln/>
        </p:spPr>
        <p:txBody>
          <a:bodyPr wrap="square" lIns="0" tIns="0" rIns="0" bIns="0" rtlCol="0" anchor="ctr"/>
          <a:lstStyle/>
          <a:p>
            <a:pPr algn="l" indent="0" marL="0">
              <a:buNone/>
            </a:pPr>
            <a:r>
              <a:rPr lang="en-US" sz="1500" b="1" dirty="0">
                <a:solidFill>
                  <a:srgbClr val="0F2942"/>
                </a:solidFill>
                <a:latin typeface="Cambria" pitchFamily="34" charset="0"/>
                <a:ea typeface="Cambria" pitchFamily="34" charset="-122"/>
                <a:cs typeface="Cambria" pitchFamily="34" charset="-120"/>
              </a:rPr>
              <a:t>False Negatives — Phishing Emails MISSED by Each Model</a:t>
            </a:r>
            <a:endParaRPr lang="en-US" sz="1500" dirty="0"/>
          </a:p>
        </p:txBody>
      </p:sp>
      <p:sp>
        <p:nvSpPr>
          <p:cNvPr id="7" name="Text 5"/>
          <p:cNvSpPr/>
          <p:nvPr/>
        </p:nvSpPr>
        <p:spPr>
          <a:xfrm>
            <a:off x="640080" y="1600200"/>
            <a:ext cx="10972800" cy="274320"/>
          </a:xfrm>
          <a:prstGeom prst="rect">
            <a:avLst/>
          </a:prstGeom>
          <a:noFill/>
          <a:ln/>
        </p:spPr>
        <p:txBody>
          <a:bodyPr wrap="square" lIns="0" tIns="0" rIns="0" bIns="0" rtlCol="0" anchor="ctr"/>
          <a:lstStyle/>
          <a:p>
            <a:pPr algn="l" indent="0" marL="0">
              <a:buNone/>
            </a:pPr>
            <a:r>
              <a:rPr lang="en-US" sz="1100" i="1" dirty="0">
                <a:solidFill>
                  <a:srgbClr val="6C757D"/>
                </a:solidFill>
                <a:latin typeface="Calibri" pitchFamily="34" charset="0"/>
                <a:ea typeface="Calibri" pitchFamily="34" charset="-122"/>
                <a:cs typeface="Calibri" pitchFamily="34" charset="-120"/>
              </a:rPr>
              <a:t>(out of 8,569 phishing emails in the test set)</a:t>
            </a:r>
            <a:endParaRPr lang="en-US" sz="1100" dirty="0"/>
          </a:p>
        </p:txBody>
      </p:sp>
      <p:sp>
        <p:nvSpPr>
          <p:cNvPr id="8" name="Text 6"/>
          <p:cNvSpPr/>
          <p:nvPr/>
        </p:nvSpPr>
        <p:spPr>
          <a:xfrm>
            <a:off x="640080" y="2057400"/>
            <a:ext cx="2560320" cy="45720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Random Forest</a:t>
            </a:r>
            <a:endParaRPr lang="en-US" sz="1300" dirty="0"/>
          </a:p>
        </p:txBody>
      </p:sp>
      <p:sp>
        <p:nvSpPr>
          <p:cNvPr id="9" name="Shape 7"/>
          <p:cNvSpPr/>
          <p:nvPr/>
        </p:nvSpPr>
        <p:spPr>
          <a:xfrm>
            <a:off x="3291840" y="2057400"/>
            <a:ext cx="979714" cy="457200"/>
          </a:xfrm>
          <a:prstGeom prst="rect">
            <a:avLst/>
          </a:prstGeom>
          <a:solidFill>
            <a:srgbClr val="2A9D8F"/>
          </a:solidFill>
          <a:ln/>
        </p:spPr>
      </p:sp>
      <p:sp>
        <p:nvSpPr>
          <p:cNvPr id="10" name="Text 8"/>
          <p:cNvSpPr/>
          <p:nvPr/>
        </p:nvSpPr>
        <p:spPr>
          <a:xfrm>
            <a:off x="4362994" y="2057400"/>
            <a:ext cx="1828800" cy="457200"/>
          </a:xfrm>
          <a:prstGeom prst="rect">
            <a:avLst/>
          </a:prstGeom>
          <a:noFill/>
          <a:ln/>
        </p:spPr>
        <p:txBody>
          <a:bodyPr wrap="square" lIns="0" tIns="0" rIns="0" bIns="0" rtlCol="0" anchor="ctr"/>
          <a:lstStyle/>
          <a:p>
            <a:pPr algn="l" indent="0" marL="0">
              <a:buNone/>
            </a:pPr>
            <a:r>
              <a:rPr lang="en-US" sz="1200" b="1" dirty="0">
                <a:solidFill>
                  <a:srgbClr val="1D3557"/>
                </a:solidFill>
                <a:latin typeface="Calibri" pitchFamily="34" charset="0"/>
                <a:ea typeface="Calibri" pitchFamily="34" charset="-122"/>
                <a:cs typeface="Calibri" pitchFamily="34" charset="-120"/>
              </a:rPr>
              <a:t>91 missed</a:t>
            </a:r>
            <a:endParaRPr lang="en-US" sz="1200" dirty="0"/>
          </a:p>
        </p:txBody>
      </p:sp>
      <p:sp>
        <p:nvSpPr>
          <p:cNvPr id="11" name="Text 9"/>
          <p:cNvSpPr/>
          <p:nvPr/>
        </p:nvSpPr>
        <p:spPr>
          <a:xfrm>
            <a:off x="640080" y="2697480"/>
            <a:ext cx="2560320" cy="45720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Logistic Regression</a:t>
            </a:r>
            <a:endParaRPr lang="en-US" sz="1300" dirty="0"/>
          </a:p>
        </p:txBody>
      </p:sp>
      <p:sp>
        <p:nvSpPr>
          <p:cNvPr id="12" name="Shape 10"/>
          <p:cNvSpPr/>
          <p:nvPr/>
        </p:nvSpPr>
        <p:spPr>
          <a:xfrm>
            <a:off x="3291840" y="2697480"/>
            <a:ext cx="1313463" cy="457200"/>
          </a:xfrm>
          <a:prstGeom prst="rect">
            <a:avLst/>
          </a:prstGeom>
          <a:solidFill>
            <a:srgbClr val="1C7293"/>
          </a:solidFill>
          <a:ln/>
        </p:spPr>
      </p:sp>
      <p:sp>
        <p:nvSpPr>
          <p:cNvPr id="13" name="Text 11"/>
          <p:cNvSpPr/>
          <p:nvPr/>
        </p:nvSpPr>
        <p:spPr>
          <a:xfrm>
            <a:off x="4696743" y="2697480"/>
            <a:ext cx="1828800" cy="457200"/>
          </a:xfrm>
          <a:prstGeom prst="rect">
            <a:avLst/>
          </a:prstGeom>
          <a:noFill/>
          <a:ln/>
        </p:spPr>
        <p:txBody>
          <a:bodyPr wrap="square" lIns="0" tIns="0" rIns="0" bIns="0" rtlCol="0" anchor="ctr"/>
          <a:lstStyle/>
          <a:p>
            <a:pPr algn="l" indent="0" marL="0">
              <a:buNone/>
            </a:pPr>
            <a:r>
              <a:rPr lang="en-US" sz="1200" b="1" dirty="0">
                <a:solidFill>
                  <a:srgbClr val="1D3557"/>
                </a:solidFill>
                <a:latin typeface="Calibri" pitchFamily="34" charset="0"/>
                <a:ea typeface="Calibri" pitchFamily="34" charset="-122"/>
                <a:cs typeface="Calibri" pitchFamily="34" charset="-120"/>
              </a:rPr>
              <a:t>122 missed</a:t>
            </a:r>
            <a:endParaRPr lang="en-US" sz="1200" dirty="0"/>
          </a:p>
        </p:txBody>
      </p:sp>
      <p:sp>
        <p:nvSpPr>
          <p:cNvPr id="14" name="Text 12"/>
          <p:cNvSpPr/>
          <p:nvPr/>
        </p:nvSpPr>
        <p:spPr>
          <a:xfrm>
            <a:off x="640080" y="3337560"/>
            <a:ext cx="2560320" cy="45720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Neural Network</a:t>
            </a:r>
            <a:endParaRPr lang="en-US" sz="1300" dirty="0"/>
          </a:p>
        </p:txBody>
      </p:sp>
      <p:sp>
        <p:nvSpPr>
          <p:cNvPr id="15" name="Shape 13"/>
          <p:cNvSpPr/>
          <p:nvPr/>
        </p:nvSpPr>
        <p:spPr>
          <a:xfrm>
            <a:off x="3291840" y="3337560"/>
            <a:ext cx="1507253" cy="457200"/>
          </a:xfrm>
          <a:prstGeom prst="rect">
            <a:avLst/>
          </a:prstGeom>
          <a:solidFill>
            <a:srgbClr val="F4A261"/>
          </a:solidFill>
          <a:ln/>
        </p:spPr>
      </p:sp>
      <p:sp>
        <p:nvSpPr>
          <p:cNvPr id="16" name="Text 14"/>
          <p:cNvSpPr/>
          <p:nvPr/>
        </p:nvSpPr>
        <p:spPr>
          <a:xfrm>
            <a:off x="4890533" y="3337560"/>
            <a:ext cx="1828800" cy="457200"/>
          </a:xfrm>
          <a:prstGeom prst="rect">
            <a:avLst/>
          </a:prstGeom>
          <a:noFill/>
          <a:ln/>
        </p:spPr>
        <p:txBody>
          <a:bodyPr wrap="square" lIns="0" tIns="0" rIns="0" bIns="0" rtlCol="0" anchor="ctr"/>
          <a:lstStyle/>
          <a:p>
            <a:pPr algn="l" indent="0" marL="0">
              <a:buNone/>
            </a:pPr>
            <a:r>
              <a:rPr lang="en-US" sz="1200" b="1" dirty="0">
                <a:solidFill>
                  <a:srgbClr val="1D3557"/>
                </a:solidFill>
                <a:latin typeface="Calibri" pitchFamily="34" charset="0"/>
                <a:ea typeface="Calibri" pitchFamily="34" charset="-122"/>
                <a:cs typeface="Calibri" pitchFamily="34" charset="-120"/>
              </a:rPr>
              <a:t>140 missed</a:t>
            </a:r>
            <a:endParaRPr lang="en-US" sz="1200" dirty="0"/>
          </a:p>
        </p:txBody>
      </p:sp>
      <p:sp>
        <p:nvSpPr>
          <p:cNvPr id="17" name="Text 15"/>
          <p:cNvSpPr/>
          <p:nvPr/>
        </p:nvSpPr>
        <p:spPr>
          <a:xfrm>
            <a:off x="640080" y="3977640"/>
            <a:ext cx="2560320" cy="457200"/>
          </a:xfrm>
          <a:prstGeom prst="rect">
            <a:avLst/>
          </a:prstGeom>
          <a:noFill/>
          <a:ln/>
        </p:spPr>
        <p:txBody>
          <a:bodyPr wrap="square" lIns="0" tIns="0" rIns="0" bIns="0" rtlCol="0" anchor="ctr"/>
          <a:lstStyle/>
          <a:p>
            <a:pPr algn="l" indent="0" marL="0">
              <a:buNone/>
            </a:pPr>
            <a:r>
              <a:rPr lang="en-US" sz="1300" b="1" dirty="0">
                <a:solidFill>
                  <a:srgbClr val="1D3557"/>
                </a:solidFill>
                <a:latin typeface="Calibri" pitchFamily="34" charset="0"/>
                <a:ea typeface="Calibri" pitchFamily="34" charset="-122"/>
                <a:cs typeface="Calibri" pitchFamily="34" charset="-120"/>
              </a:rPr>
              <a:t>Naive Bayes</a:t>
            </a:r>
            <a:endParaRPr lang="en-US" sz="1300" dirty="0"/>
          </a:p>
        </p:txBody>
      </p:sp>
      <p:sp>
        <p:nvSpPr>
          <p:cNvPr id="18" name="Shape 16"/>
          <p:cNvSpPr/>
          <p:nvPr/>
        </p:nvSpPr>
        <p:spPr>
          <a:xfrm>
            <a:off x="3291840" y="3977640"/>
            <a:ext cx="6858000" cy="457200"/>
          </a:xfrm>
          <a:prstGeom prst="rect">
            <a:avLst/>
          </a:prstGeom>
          <a:solidFill>
            <a:srgbClr val="E63946"/>
          </a:solidFill>
          <a:ln/>
        </p:spPr>
      </p:sp>
      <p:sp>
        <p:nvSpPr>
          <p:cNvPr id="19" name="Text 17"/>
          <p:cNvSpPr/>
          <p:nvPr/>
        </p:nvSpPr>
        <p:spPr>
          <a:xfrm>
            <a:off x="10241280" y="3977640"/>
            <a:ext cx="1828800" cy="457200"/>
          </a:xfrm>
          <a:prstGeom prst="rect">
            <a:avLst/>
          </a:prstGeom>
          <a:noFill/>
          <a:ln/>
        </p:spPr>
        <p:txBody>
          <a:bodyPr wrap="square" lIns="0" tIns="0" rIns="0" bIns="0" rtlCol="0" anchor="ctr"/>
          <a:lstStyle/>
          <a:p>
            <a:pPr algn="l" indent="0" marL="0">
              <a:buNone/>
            </a:pPr>
            <a:r>
              <a:rPr lang="en-US" sz="1200" b="1" dirty="0">
                <a:solidFill>
                  <a:srgbClr val="1D3557"/>
                </a:solidFill>
                <a:latin typeface="Calibri" pitchFamily="34" charset="0"/>
                <a:ea typeface="Calibri" pitchFamily="34" charset="-122"/>
                <a:cs typeface="Calibri" pitchFamily="34" charset="-120"/>
              </a:rPr>
              <a:t>637 missed</a:t>
            </a:r>
            <a:endParaRPr lang="en-US" sz="1200" dirty="0"/>
          </a:p>
        </p:txBody>
      </p:sp>
      <p:sp>
        <p:nvSpPr>
          <p:cNvPr id="20" name="Shape 18"/>
          <p:cNvSpPr/>
          <p:nvPr/>
        </p:nvSpPr>
        <p:spPr>
          <a:xfrm>
            <a:off x="640080" y="5029200"/>
            <a:ext cx="10972800" cy="1097280"/>
          </a:xfrm>
          <a:prstGeom prst="roundRect">
            <a:avLst>
              <a:gd name="adj" fmla="val 6667"/>
            </a:avLst>
          </a:prstGeom>
          <a:solidFill>
            <a:srgbClr val="0F2942"/>
          </a:solidFill>
          <a:ln/>
        </p:spPr>
      </p:sp>
      <p:sp>
        <p:nvSpPr>
          <p:cNvPr id="21" name="Text 19"/>
          <p:cNvSpPr/>
          <p:nvPr/>
        </p:nvSpPr>
        <p:spPr>
          <a:xfrm>
            <a:off x="868680" y="5074920"/>
            <a:ext cx="10515600" cy="1005840"/>
          </a:xfrm>
          <a:prstGeom prst="rect">
            <a:avLst/>
          </a:prstGeom>
          <a:noFill/>
          <a:ln/>
        </p:spPr>
        <p:txBody>
          <a:bodyPr wrap="square" lIns="0" tIns="0" rIns="0" bIns="0" rtlCol="0" anchor="ctr"/>
          <a:lstStyle/>
          <a:p>
            <a:pPr algn="l" indent="0" marL="0">
              <a:buNone/>
            </a:pPr>
            <a:r>
              <a:rPr lang="en-US" sz="1500" b="1" dirty="0">
                <a:solidFill>
                  <a:srgbClr val="F4A261"/>
                </a:solidFill>
                <a:latin typeface="Cambria" pitchFamily="34" charset="0"/>
                <a:ea typeface="Cambria" pitchFamily="34" charset="-122"/>
                <a:cs typeface="Cambria" pitchFamily="34" charset="-120"/>
              </a:rPr>
              <a:t>INSIGHT:  </a:t>
            </a:r>
            <a:pPr algn="l" indent="0" marL="0">
              <a:buNone/>
            </a:pPr>
            <a:r>
              <a:rPr lang="en-US" sz="1400" dirty="0">
                <a:solidFill>
                  <a:srgbClr val="FFFFFF"/>
                </a:solidFill>
                <a:latin typeface="Calibri" pitchFamily="34" charset="0"/>
                <a:ea typeface="Calibri" pitchFamily="34" charset="-122"/>
                <a:cs typeface="Calibri" pitchFamily="34" charset="-120"/>
              </a:rPr>
              <a:t>In phishing detection, a </a:t>
            </a:r>
            <a:pPr algn="l" indent="0" marL="0">
              <a:buNone/>
            </a:pPr>
            <a:r>
              <a:rPr lang="en-US" sz="1400" b="1" dirty="0">
                <a:solidFill>
                  <a:srgbClr val="E63946"/>
                </a:solidFill>
                <a:latin typeface="Calibri" pitchFamily="34" charset="0"/>
                <a:ea typeface="Calibri" pitchFamily="34" charset="-122"/>
                <a:cs typeface="Calibri" pitchFamily="34" charset="-120"/>
              </a:rPr>
              <a:t>false negative</a:t>
            </a:r>
            <a:pPr algn="l" indent="0" marL="0">
              <a:buNone/>
            </a:pPr>
            <a:r>
              <a:rPr lang="en-US" sz="1400" dirty="0">
                <a:solidFill>
                  <a:srgbClr val="FFFFFF"/>
                </a:solidFill>
                <a:latin typeface="Calibri" pitchFamily="34" charset="0"/>
                <a:ea typeface="Calibri" pitchFamily="34" charset="-122"/>
                <a:cs typeface="Calibri" pitchFamily="34" charset="-120"/>
              </a:rPr>
              <a:t> costs far more than a false positive — one missed phishing email can lead to credential theft. Random Forest missed the fewest by a wide margin.</a:t>
            </a:r>
            <a:endParaRPr lang="en-US" sz="1500" dirty="0"/>
          </a:p>
        </p:txBody>
      </p:sp>
      <p:sp>
        <p:nvSpPr>
          <p:cNvPr id="22" name="Text 20"/>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23" name="Text 2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Results — What Did the Model Learn?</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Text 4"/>
          <p:cNvSpPr/>
          <p:nvPr/>
        </p:nvSpPr>
        <p:spPr>
          <a:xfrm>
            <a:off x="640080" y="1280160"/>
            <a:ext cx="5486400" cy="365760"/>
          </a:xfrm>
          <a:prstGeom prst="rect">
            <a:avLst/>
          </a:prstGeom>
          <a:noFill/>
          <a:ln/>
        </p:spPr>
        <p:txBody>
          <a:bodyPr wrap="square" lIns="0" tIns="0" rIns="0" bIns="0" rtlCol="0" anchor="ctr"/>
          <a:lstStyle/>
          <a:p>
            <a:pPr algn="l" indent="0" marL="0">
              <a:buNone/>
            </a:pPr>
            <a:r>
              <a:rPr lang="en-US" sz="1500" b="1" dirty="0">
                <a:solidFill>
                  <a:srgbClr val="0F2942"/>
                </a:solidFill>
                <a:latin typeface="Cambria" pitchFamily="34" charset="0"/>
                <a:ea typeface="Cambria" pitchFamily="34" charset="-122"/>
                <a:cs typeface="Cambria" pitchFamily="34" charset="-120"/>
              </a:rPr>
              <a:t>Top Features by Random Forest Importance</a:t>
            </a:r>
            <a:endParaRPr lang="en-US" sz="1500" dirty="0"/>
          </a:p>
        </p:txBody>
      </p:sp>
      <p:sp>
        <p:nvSpPr>
          <p:cNvPr id="7" name="Text 5"/>
          <p:cNvSpPr/>
          <p:nvPr/>
        </p:nvSpPr>
        <p:spPr>
          <a:xfrm>
            <a:off x="640080" y="1737360"/>
            <a:ext cx="1463040" cy="292608"/>
          </a:xfrm>
          <a:prstGeom prst="rect">
            <a:avLst/>
          </a:prstGeom>
          <a:noFill/>
          <a:ln/>
        </p:spPr>
        <p:txBody>
          <a:bodyPr wrap="square" lIns="0" tIns="0" rIns="0" bIns="0" rtlCol="0" anchor="ctr"/>
          <a:lstStyle/>
          <a:p>
            <a:pPr algn="l" indent="0" marL="0">
              <a:buNone/>
            </a:pPr>
            <a:r>
              <a:rPr lang="en-US" sz="1100" dirty="0">
                <a:solidFill>
                  <a:srgbClr val="6C757D"/>
                </a:solidFill>
                <a:latin typeface="Courier New" pitchFamily="34" charset="0"/>
                <a:ea typeface="Courier New" pitchFamily="34" charset="-122"/>
                <a:cs typeface="Courier New" pitchFamily="34" charset="-120"/>
              </a:rPr>
              <a:t>wrote</a:t>
            </a:r>
            <a:endParaRPr lang="en-US" sz="1100" dirty="0"/>
          </a:p>
        </p:txBody>
      </p:sp>
      <p:sp>
        <p:nvSpPr>
          <p:cNvPr id="8" name="Shape 6"/>
          <p:cNvSpPr/>
          <p:nvPr/>
        </p:nvSpPr>
        <p:spPr>
          <a:xfrm>
            <a:off x="2103120" y="1783080"/>
            <a:ext cx="3200400" cy="201168"/>
          </a:xfrm>
          <a:prstGeom prst="rect">
            <a:avLst/>
          </a:prstGeom>
          <a:solidFill>
            <a:srgbClr val="DEE2E6"/>
          </a:solidFill>
          <a:ln/>
        </p:spPr>
      </p:sp>
      <p:sp>
        <p:nvSpPr>
          <p:cNvPr id="9" name="Text 7"/>
          <p:cNvSpPr/>
          <p:nvPr/>
        </p:nvSpPr>
        <p:spPr>
          <a:xfrm>
            <a:off x="5349240" y="1737360"/>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0.0312</a:t>
            </a:r>
            <a:endParaRPr lang="en-US" sz="1000" dirty="0"/>
          </a:p>
        </p:txBody>
      </p:sp>
      <p:sp>
        <p:nvSpPr>
          <p:cNvPr id="10" name="Text 8"/>
          <p:cNvSpPr/>
          <p:nvPr/>
        </p:nvSpPr>
        <p:spPr>
          <a:xfrm>
            <a:off x="640080" y="2066544"/>
            <a:ext cx="1463040" cy="292608"/>
          </a:xfrm>
          <a:prstGeom prst="rect">
            <a:avLst/>
          </a:prstGeom>
          <a:noFill/>
          <a:ln/>
        </p:spPr>
        <p:txBody>
          <a:bodyPr wrap="square" lIns="0" tIns="0" rIns="0" bIns="0" rtlCol="0" anchor="ctr"/>
          <a:lstStyle/>
          <a:p>
            <a:pPr algn="l" indent="0" marL="0">
              <a:buNone/>
            </a:pPr>
            <a:r>
              <a:rPr lang="en-US" sz="1100" dirty="0">
                <a:solidFill>
                  <a:srgbClr val="6C757D"/>
                </a:solidFill>
                <a:latin typeface="Courier New" pitchFamily="34" charset="0"/>
                <a:ea typeface="Courier New" pitchFamily="34" charset="-122"/>
                <a:cs typeface="Courier New" pitchFamily="34" charset="-120"/>
              </a:rPr>
              <a:t>aug 2008</a:t>
            </a:r>
            <a:endParaRPr lang="en-US" sz="1100" dirty="0"/>
          </a:p>
        </p:txBody>
      </p:sp>
      <p:sp>
        <p:nvSpPr>
          <p:cNvPr id="11" name="Shape 9"/>
          <p:cNvSpPr/>
          <p:nvPr/>
        </p:nvSpPr>
        <p:spPr>
          <a:xfrm>
            <a:off x="2103120" y="2112264"/>
            <a:ext cx="2923442" cy="201168"/>
          </a:xfrm>
          <a:prstGeom prst="rect">
            <a:avLst/>
          </a:prstGeom>
          <a:solidFill>
            <a:srgbClr val="DEE2E6"/>
          </a:solidFill>
          <a:ln/>
        </p:spPr>
      </p:sp>
      <p:sp>
        <p:nvSpPr>
          <p:cNvPr id="12" name="Text 10"/>
          <p:cNvSpPr/>
          <p:nvPr/>
        </p:nvSpPr>
        <p:spPr>
          <a:xfrm>
            <a:off x="5072282" y="2066544"/>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0.0285</a:t>
            </a:r>
            <a:endParaRPr lang="en-US" sz="1000" dirty="0"/>
          </a:p>
        </p:txBody>
      </p:sp>
      <p:sp>
        <p:nvSpPr>
          <p:cNvPr id="13" name="Text 11"/>
          <p:cNvSpPr/>
          <p:nvPr/>
        </p:nvSpPr>
        <p:spPr>
          <a:xfrm>
            <a:off x="640080" y="2395728"/>
            <a:ext cx="1463040" cy="292608"/>
          </a:xfrm>
          <a:prstGeom prst="rect">
            <a:avLst/>
          </a:prstGeom>
          <a:noFill/>
          <a:ln/>
        </p:spPr>
        <p:txBody>
          <a:bodyPr wrap="square" lIns="0" tIns="0" rIns="0" bIns="0" rtlCol="0" anchor="ctr"/>
          <a:lstStyle/>
          <a:p>
            <a:pPr algn="l" indent="0" marL="0">
              <a:buNone/>
            </a:pPr>
            <a:r>
              <a:rPr lang="en-US" sz="1100" dirty="0">
                <a:solidFill>
                  <a:srgbClr val="6C757D"/>
                </a:solidFill>
                <a:latin typeface="Courier New" pitchFamily="34" charset="0"/>
                <a:ea typeface="Courier New" pitchFamily="34" charset="-122"/>
                <a:cs typeface="Courier New" pitchFamily="34" charset="-120"/>
              </a:rPr>
              <a:t>aug</a:t>
            </a:r>
            <a:endParaRPr lang="en-US" sz="1100" dirty="0"/>
          </a:p>
        </p:txBody>
      </p:sp>
      <p:sp>
        <p:nvSpPr>
          <p:cNvPr id="14" name="Shape 12"/>
          <p:cNvSpPr/>
          <p:nvPr/>
        </p:nvSpPr>
        <p:spPr>
          <a:xfrm>
            <a:off x="2103120" y="2441448"/>
            <a:ext cx="2923442" cy="201168"/>
          </a:xfrm>
          <a:prstGeom prst="rect">
            <a:avLst/>
          </a:prstGeom>
          <a:solidFill>
            <a:srgbClr val="DEE2E6"/>
          </a:solidFill>
          <a:ln/>
        </p:spPr>
      </p:sp>
      <p:sp>
        <p:nvSpPr>
          <p:cNvPr id="15" name="Text 13"/>
          <p:cNvSpPr/>
          <p:nvPr/>
        </p:nvSpPr>
        <p:spPr>
          <a:xfrm>
            <a:off x="5072282" y="2395728"/>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0.0285</a:t>
            </a:r>
            <a:endParaRPr lang="en-US" sz="1000" dirty="0"/>
          </a:p>
        </p:txBody>
      </p:sp>
      <p:sp>
        <p:nvSpPr>
          <p:cNvPr id="16" name="Text 14"/>
          <p:cNvSpPr/>
          <p:nvPr/>
        </p:nvSpPr>
        <p:spPr>
          <a:xfrm>
            <a:off x="640080" y="2724912"/>
            <a:ext cx="1463040" cy="292608"/>
          </a:xfrm>
          <a:prstGeom prst="rect">
            <a:avLst/>
          </a:prstGeom>
          <a:noFill/>
          <a:ln/>
        </p:spPr>
        <p:txBody>
          <a:bodyPr wrap="square" lIns="0" tIns="0" rIns="0" bIns="0" rtlCol="0" anchor="ctr"/>
          <a:lstStyle/>
          <a:p>
            <a:pPr algn="l" indent="0" marL="0">
              <a:buNone/>
            </a:pPr>
            <a:r>
              <a:rPr lang="en-US" sz="1100" dirty="0">
                <a:solidFill>
                  <a:srgbClr val="6C757D"/>
                </a:solidFill>
                <a:latin typeface="Courier New" pitchFamily="34" charset="0"/>
                <a:ea typeface="Courier New" pitchFamily="34" charset="-122"/>
                <a:cs typeface="Courier New" pitchFamily="34" charset="-120"/>
              </a:rPr>
              <a:t>enron</a:t>
            </a:r>
            <a:endParaRPr lang="en-US" sz="1100" dirty="0"/>
          </a:p>
        </p:txBody>
      </p:sp>
      <p:sp>
        <p:nvSpPr>
          <p:cNvPr id="17" name="Shape 15"/>
          <p:cNvSpPr/>
          <p:nvPr/>
        </p:nvSpPr>
        <p:spPr>
          <a:xfrm>
            <a:off x="2103120" y="2770632"/>
            <a:ext cx="2123342" cy="201168"/>
          </a:xfrm>
          <a:prstGeom prst="rect">
            <a:avLst/>
          </a:prstGeom>
          <a:solidFill>
            <a:srgbClr val="DEE2E6"/>
          </a:solidFill>
          <a:ln/>
        </p:spPr>
      </p:sp>
      <p:sp>
        <p:nvSpPr>
          <p:cNvPr id="18" name="Text 16"/>
          <p:cNvSpPr/>
          <p:nvPr/>
        </p:nvSpPr>
        <p:spPr>
          <a:xfrm>
            <a:off x="4272182" y="2724912"/>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0.0207</a:t>
            </a:r>
            <a:endParaRPr lang="en-US" sz="1000" dirty="0"/>
          </a:p>
        </p:txBody>
      </p:sp>
      <p:sp>
        <p:nvSpPr>
          <p:cNvPr id="19" name="Text 17"/>
          <p:cNvSpPr/>
          <p:nvPr/>
        </p:nvSpPr>
        <p:spPr>
          <a:xfrm>
            <a:off x="640080" y="3054096"/>
            <a:ext cx="1463040" cy="292608"/>
          </a:xfrm>
          <a:prstGeom prst="rect">
            <a:avLst/>
          </a:prstGeom>
          <a:noFill/>
          <a:ln/>
        </p:spPr>
        <p:txBody>
          <a:bodyPr wrap="square" lIns="0" tIns="0" rIns="0" bIns="0" rtlCol="0" anchor="ctr"/>
          <a:lstStyle/>
          <a:p>
            <a:pPr algn="l" indent="0" marL="0">
              <a:buNone/>
            </a:pPr>
            <a:r>
              <a:rPr lang="en-US" sz="1100" dirty="0">
                <a:solidFill>
                  <a:srgbClr val="6C757D"/>
                </a:solidFill>
                <a:latin typeface="Courier New" pitchFamily="34" charset="0"/>
                <a:ea typeface="Courier New" pitchFamily="34" charset="-122"/>
                <a:cs typeface="Courier New" pitchFamily="34" charset="-120"/>
              </a:rPr>
              <a:t>2008</a:t>
            </a:r>
            <a:endParaRPr lang="en-US" sz="1100" dirty="0"/>
          </a:p>
        </p:txBody>
      </p:sp>
      <p:sp>
        <p:nvSpPr>
          <p:cNvPr id="20" name="Shape 18"/>
          <p:cNvSpPr/>
          <p:nvPr/>
        </p:nvSpPr>
        <p:spPr>
          <a:xfrm>
            <a:off x="2103120" y="3099816"/>
            <a:ext cx="1641231" cy="201168"/>
          </a:xfrm>
          <a:prstGeom prst="rect">
            <a:avLst/>
          </a:prstGeom>
          <a:solidFill>
            <a:srgbClr val="DEE2E6"/>
          </a:solidFill>
          <a:ln/>
        </p:spPr>
      </p:sp>
      <p:sp>
        <p:nvSpPr>
          <p:cNvPr id="21" name="Text 19"/>
          <p:cNvSpPr/>
          <p:nvPr/>
        </p:nvSpPr>
        <p:spPr>
          <a:xfrm>
            <a:off x="3790071" y="3054096"/>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0.0160</a:t>
            </a:r>
            <a:endParaRPr lang="en-US" sz="1000" dirty="0"/>
          </a:p>
        </p:txBody>
      </p:sp>
      <p:sp>
        <p:nvSpPr>
          <p:cNvPr id="22" name="Text 20"/>
          <p:cNvSpPr/>
          <p:nvPr/>
        </p:nvSpPr>
        <p:spPr>
          <a:xfrm>
            <a:off x="640080" y="3383280"/>
            <a:ext cx="1463040" cy="292608"/>
          </a:xfrm>
          <a:prstGeom prst="rect">
            <a:avLst/>
          </a:prstGeom>
          <a:noFill/>
          <a:ln/>
        </p:spPr>
        <p:txBody>
          <a:bodyPr wrap="square" lIns="0" tIns="0" rIns="0" bIns="0" rtlCol="0" anchor="ctr"/>
          <a:lstStyle/>
          <a:p>
            <a:pPr algn="l" indent="0" marL="0">
              <a:buNone/>
            </a:pPr>
            <a:r>
              <a:rPr lang="en-US" sz="1100" dirty="0">
                <a:solidFill>
                  <a:srgbClr val="6C757D"/>
                </a:solidFill>
                <a:latin typeface="Courier New" pitchFamily="34" charset="0"/>
                <a:ea typeface="Courier New" pitchFamily="34" charset="-122"/>
                <a:cs typeface="Courier New" pitchFamily="34" charset="-120"/>
              </a:rPr>
              <a:t>thanks</a:t>
            </a:r>
            <a:endParaRPr lang="en-US" sz="1100" dirty="0"/>
          </a:p>
        </p:txBody>
      </p:sp>
      <p:sp>
        <p:nvSpPr>
          <p:cNvPr id="23" name="Shape 21"/>
          <p:cNvSpPr/>
          <p:nvPr/>
        </p:nvSpPr>
        <p:spPr>
          <a:xfrm>
            <a:off x="2103120" y="3429000"/>
            <a:ext cx="1292469" cy="201168"/>
          </a:xfrm>
          <a:prstGeom prst="rect">
            <a:avLst/>
          </a:prstGeom>
          <a:solidFill>
            <a:srgbClr val="DEE2E6"/>
          </a:solidFill>
          <a:ln/>
        </p:spPr>
      </p:sp>
      <p:sp>
        <p:nvSpPr>
          <p:cNvPr id="24" name="Text 22"/>
          <p:cNvSpPr/>
          <p:nvPr/>
        </p:nvSpPr>
        <p:spPr>
          <a:xfrm>
            <a:off x="3441309" y="3383280"/>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0.0126</a:t>
            </a:r>
            <a:endParaRPr lang="en-US" sz="1000" dirty="0"/>
          </a:p>
        </p:txBody>
      </p:sp>
      <p:sp>
        <p:nvSpPr>
          <p:cNvPr id="25" name="Text 23"/>
          <p:cNvSpPr/>
          <p:nvPr/>
        </p:nvSpPr>
        <p:spPr>
          <a:xfrm>
            <a:off x="640080" y="3712464"/>
            <a:ext cx="1463040" cy="292608"/>
          </a:xfrm>
          <a:prstGeom prst="rect">
            <a:avLst/>
          </a:prstGeom>
          <a:noFill/>
          <a:ln/>
        </p:spPr>
        <p:txBody>
          <a:bodyPr wrap="square" lIns="0" tIns="0" rIns="0" bIns="0" rtlCol="0" anchor="ctr"/>
          <a:lstStyle/>
          <a:p>
            <a:pPr algn="l" indent="0" marL="0">
              <a:buNone/>
            </a:pPr>
            <a:r>
              <a:rPr lang="en-US" sz="1100" b="1" dirty="0">
                <a:solidFill>
                  <a:srgbClr val="1D3557"/>
                </a:solidFill>
                <a:latin typeface="Courier New" pitchFamily="34" charset="0"/>
                <a:ea typeface="Courier New" pitchFamily="34" charset="-122"/>
                <a:cs typeface="Courier New" pitchFamily="34" charset="-120"/>
              </a:rPr>
              <a:t>money</a:t>
            </a:r>
            <a:endParaRPr lang="en-US" sz="1100" dirty="0"/>
          </a:p>
        </p:txBody>
      </p:sp>
      <p:sp>
        <p:nvSpPr>
          <p:cNvPr id="26" name="Shape 24"/>
          <p:cNvSpPr/>
          <p:nvPr/>
        </p:nvSpPr>
        <p:spPr>
          <a:xfrm>
            <a:off x="2103120" y="3758184"/>
            <a:ext cx="933450" cy="201168"/>
          </a:xfrm>
          <a:prstGeom prst="rect">
            <a:avLst/>
          </a:prstGeom>
          <a:solidFill>
            <a:srgbClr val="E63946"/>
          </a:solidFill>
          <a:ln/>
        </p:spPr>
      </p:sp>
      <p:sp>
        <p:nvSpPr>
          <p:cNvPr id="27" name="Text 25"/>
          <p:cNvSpPr/>
          <p:nvPr/>
        </p:nvSpPr>
        <p:spPr>
          <a:xfrm>
            <a:off x="3082290" y="3712464"/>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0.0091</a:t>
            </a:r>
            <a:endParaRPr lang="en-US" sz="1000" dirty="0"/>
          </a:p>
        </p:txBody>
      </p:sp>
      <p:sp>
        <p:nvSpPr>
          <p:cNvPr id="28" name="Text 26"/>
          <p:cNvSpPr/>
          <p:nvPr/>
        </p:nvSpPr>
        <p:spPr>
          <a:xfrm>
            <a:off x="640080" y="4041648"/>
            <a:ext cx="1463040" cy="292608"/>
          </a:xfrm>
          <a:prstGeom prst="rect">
            <a:avLst/>
          </a:prstGeom>
          <a:noFill/>
          <a:ln/>
        </p:spPr>
        <p:txBody>
          <a:bodyPr wrap="square" lIns="0" tIns="0" rIns="0" bIns="0" rtlCol="0" anchor="ctr"/>
          <a:lstStyle/>
          <a:p>
            <a:pPr algn="l" indent="0" marL="0">
              <a:buNone/>
            </a:pPr>
            <a:r>
              <a:rPr lang="en-US" sz="1100" b="1" dirty="0">
                <a:solidFill>
                  <a:srgbClr val="1D3557"/>
                </a:solidFill>
                <a:latin typeface="Courier New" pitchFamily="34" charset="0"/>
                <a:ea typeface="Courier New" pitchFamily="34" charset="-122"/>
                <a:cs typeface="Courier New" pitchFamily="34" charset="-120"/>
              </a:rPr>
              <a:t>click</a:t>
            </a:r>
            <a:endParaRPr lang="en-US" sz="1100" dirty="0"/>
          </a:p>
        </p:txBody>
      </p:sp>
      <p:sp>
        <p:nvSpPr>
          <p:cNvPr id="29" name="Shape 27"/>
          <p:cNvSpPr/>
          <p:nvPr/>
        </p:nvSpPr>
        <p:spPr>
          <a:xfrm>
            <a:off x="2103120" y="4087368"/>
            <a:ext cx="769327" cy="201168"/>
          </a:xfrm>
          <a:prstGeom prst="rect">
            <a:avLst/>
          </a:prstGeom>
          <a:solidFill>
            <a:srgbClr val="E63946"/>
          </a:solidFill>
          <a:ln/>
        </p:spPr>
      </p:sp>
      <p:sp>
        <p:nvSpPr>
          <p:cNvPr id="30" name="Text 28"/>
          <p:cNvSpPr/>
          <p:nvPr/>
        </p:nvSpPr>
        <p:spPr>
          <a:xfrm>
            <a:off x="2918167" y="4041648"/>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0.0075</a:t>
            </a:r>
            <a:endParaRPr lang="en-US" sz="1000" dirty="0"/>
          </a:p>
        </p:txBody>
      </p:sp>
      <p:sp>
        <p:nvSpPr>
          <p:cNvPr id="31" name="Text 29"/>
          <p:cNvSpPr/>
          <p:nvPr/>
        </p:nvSpPr>
        <p:spPr>
          <a:xfrm>
            <a:off x="640080" y="4370832"/>
            <a:ext cx="1463040" cy="292608"/>
          </a:xfrm>
          <a:prstGeom prst="rect">
            <a:avLst/>
          </a:prstGeom>
          <a:noFill/>
          <a:ln/>
        </p:spPr>
        <p:txBody>
          <a:bodyPr wrap="square" lIns="0" tIns="0" rIns="0" bIns="0" rtlCol="0" anchor="ctr"/>
          <a:lstStyle/>
          <a:p>
            <a:pPr algn="l" indent="0" marL="0">
              <a:buNone/>
            </a:pPr>
            <a:r>
              <a:rPr lang="en-US" sz="1100" b="1" dirty="0">
                <a:solidFill>
                  <a:srgbClr val="1D3557"/>
                </a:solidFill>
                <a:latin typeface="Courier New" pitchFamily="34" charset="0"/>
                <a:ea typeface="Courier New" pitchFamily="34" charset="-122"/>
                <a:cs typeface="Courier New" pitchFamily="34" charset="-120"/>
              </a:rPr>
              <a:t>account</a:t>
            </a:r>
            <a:endParaRPr lang="en-US" sz="1100" dirty="0"/>
          </a:p>
        </p:txBody>
      </p:sp>
      <p:sp>
        <p:nvSpPr>
          <p:cNvPr id="32" name="Shape 30"/>
          <p:cNvSpPr/>
          <p:nvPr/>
        </p:nvSpPr>
        <p:spPr>
          <a:xfrm>
            <a:off x="2103120" y="4416552"/>
            <a:ext cx="718038" cy="201168"/>
          </a:xfrm>
          <a:prstGeom prst="rect">
            <a:avLst/>
          </a:prstGeom>
          <a:solidFill>
            <a:srgbClr val="E63946"/>
          </a:solidFill>
          <a:ln/>
        </p:spPr>
      </p:sp>
      <p:sp>
        <p:nvSpPr>
          <p:cNvPr id="33" name="Text 31"/>
          <p:cNvSpPr/>
          <p:nvPr/>
        </p:nvSpPr>
        <p:spPr>
          <a:xfrm>
            <a:off x="2866878" y="4370832"/>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0.0070</a:t>
            </a:r>
            <a:endParaRPr lang="en-US" sz="1000" dirty="0"/>
          </a:p>
        </p:txBody>
      </p:sp>
      <p:sp>
        <p:nvSpPr>
          <p:cNvPr id="34" name="Text 32"/>
          <p:cNvSpPr/>
          <p:nvPr/>
        </p:nvSpPr>
        <p:spPr>
          <a:xfrm>
            <a:off x="640080" y="4700016"/>
            <a:ext cx="1463040" cy="292608"/>
          </a:xfrm>
          <a:prstGeom prst="rect">
            <a:avLst/>
          </a:prstGeom>
          <a:noFill/>
          <a:ln/>
        </p:spPr>
        <p:txBody>
          <a:bodyPr wrap="square" lIns="0" tIns="0" rIns="0" bIns="0" rtlCol="0" anchor="ctr"/>
          <a:lstStyle/>
          <a:p>
            <a:pPr algn="l" indent="0" marL="0">
              <a:buNone/>
            </a:pPr>
            <a:r>
              <a:rPr lang="en-US" sz="1100" b="1" dirty="0">
                <a:solidFill>
                  <a:srgbClr val="1D3557"/>
                </a:solidFill>
                <a:latin typeface="Courier New" pitchFamily="34" charset="0"/>
                <a:ea typeface="Courier New" pitchFamily="34" charset="-122"/>
                <a:cs typeface="Courier New" pitchFamily="34" charset="-120"/>
              </a:rPr>
              <a:t>http</a:t>
            </a:r>
            <a:endParaRPr lang="en-US" sz="1100" dirty="0"/>
          </a:p>
        </p:txBody>
      </p:sp>
      <p:sp>
        <p:nvSpPr>
          <p:cNvPr id="35" name="Shape 33"/>
          <p:cNvSpPr/>
          <p:nvPr/>
        </p:nvSpPr>
        <p:spPr>
          <a:xfrm>
            <a:off x="2103120" y="4745736"/>
            <a:ext cx="635977" cy="201168"/>
          </a:xfrm>
          <a:prstGeom prst="rect">
            <a:avLst/>
          </a:prstGeom>
          <a:solidFill>
            <a:srgbClr val="E63946"/>
          </a:solidFill>
          <a:ln/>
        </p:spPr>
      </p:sp>
      <p:sp>
        <p:nvSpPr>
          <p:cNvPr id="36" name="Text 34"/>
          <p:cNvSpPr/>
          <p:nvPr/>
        </p:nvSpPr>
        <p:spPr>
          <a:xfrm>
            <a:off x="2784817" y="4700016"/>
            <a:ext cx="914400" cy="292608"/>
          </a:xfrm>
          <a:prstGeom prst="rect">
            <a:avLst/>
          </a:prstGeom>
          <a:noFill/>
          <a:ln/>
        </p:spPr>
        <p:txBody>
          <a:bodyPr wrap="square" lIns="0" tIns="0" rIns="0" bIns="0" rtlCol="0" anchor="ctr"/>
          <a:lstStyle/>
          <a:p>
            <a:pPr algn="l" indent="0" marL="0">
              <a:buNone/>
            </a:pPr>
            <a:r>
              <a:rPr lang="en-US" sz="1000" dirty="0">
                <a:solidFill>
                  <a:srgbClr val="6C757D"/>
                </a:solidFill>
                <a:latin typeface="Courier New" pitchFamily="34" charset="0"/>
                <a:ea typeface="Courier New" pitchFamily="34" charset="-122"/>
                <a:cs typeface="Courier New" pitchFamily="34" charset="-120"/>
              </a:rPr>
              <a:t>0.0062</a:t>
            </a:r>
            <a:endParaRPr lang="en-US" sz="1000" dirty="0"/>
          </a:p>
        </p:txBody>
      </p:sp>
      <p:sp>
        <p:nvSpPr>
          <p:cNvPr id="37" name="Shape 35"/>
          <p:cNvSpPr/>
          <p:nvPr/>
        </p:nvSpPr>
        <p:spPr>
          <a:xfrm>
            <a:off x="6675120" y="1280160"/>
            <a:ext cx="5029200" cy="4754880"/>
          </a:xfrm>
          <a:prstGeom prst="roundRect">
            <a:avLst>
              <a:gd name="adj" fmla="val 1538"/>
            </a:avLst>
          </a:prstGeom>
          <a:solidFill>
            <a:srgbClr val="FFF9E6"/>
          </a:solidFill>
          <a:ln w="25400">
            <a:solidFill>
              <a:srgbClr val="F4A261"/>
            </a:solidFill>
            <a:prstDash val="solid"/>
          </a:ln>
        </p:spPr>
      </p:sp>
      <p:sp>
        <p:nvSpPr>
          <p:cNvPr id="38" name="Text 36"/>
          <p:cNvSpPr/>
          <p:nvPr/>
        </p:nvSpPr>
        <p:spPr>
          <a:xfrm>
            <a:off x="6903720" y="1463040"/>
            <a:ext cx="4663440" cy="365760"/>
          </a:xfrm>
          <a:prstGeom prst="rect">
            <a:avLst/>
          </a:prstGeom>
          <a:noFill/>
          <a:ln/>
        </p:spPr>
        <p:txBody>
          <a:bodyPr wrap="square" lIns="0" tIns="0" rIns="0" bIns="0" rtlCol="0" anchor="ctr"/>
          <a:lstStyle/>
          <a:p>
            <a:pPr algn="l" indent="0" marL="0">
              <a:buNone/>
            </a:pPr>
            <a:r>
              <a:rPr lang="en-US" sz="1700" b="1" dirty="0">
                <a:solidFill>
                  <a:srgbClr val="8B5A00"/>
                </a:solidFill>
                <a:latin typeface="Cambria" pitchFamily="34" charset="0"/>
                <a:ea typeface="Cambria" pitchFamily="34" charset="-122"/>
                <a:cs typeface="Cambria" pitchFamily="34" charset="-120"/>
              </a:rPr>
              <a:t>⚠  Honest Finding</a:t>
            </a:r>
            <a:endParaRPr lang="en-US" sz="1700" dirty="0"/>
          </a:p>
        </p:txBody>
      </p:sp>
      <p:sp>
        <p:nvSpPr>
          <p:cNvPr id="39" name="Text 37"/>
          <p:cNvSpPr/>
          <p:nvPr/>
        </p:nvSpPr>
        <p:spPr>
          <a:xfrm>
            <a:off x="6903720" y="1874520"/>
            <a:ext cx="4663440" cy="640080"/>
          </a:xfrm>
          <a:prstGeom prst="rect">
            <a:avLst/>
          </a:prstGeom>
          <a:noFill/>
          <a:ln/>
        </p:spPr>
        <p:txBody>
          <a:bodyPr wrap="square" lIns="0" tIns="0" rIns="0" bIns="0" rtlCol="0" anchor="ctr"/>
          <a:lstStyle/>
          <a:p>
            <a:pPr algn="l" indent="0" marL="0">
              <a:buNone/>
            </a:pPr>
            <a:r>
              <a:rPr lang="en-US" sz="1400" i="1" dirty="0">
                <a:solidFill>
                  <a:srgbClr val="1D3557"/>
                </a:solidFill>
                <a:latin typeface="Calibri" pitchFamily="34" charset="0"/>
                <a:ea typeface="Calibri" pitchFamily="34" charset="-122"/>
                <a:cs typeface="Calibri" pitchFamily="34" charset="-120"/>
              </a:rPr>
              <a:t>Many top features are dataset artefacts, not phishing signals.</a:t>
            </a:r>
            <a:endParaRPr lang="en-US" sz="1400" dirty="0"/>
          </a:p>
        </p:txBody>
      </p:sp>
      <p:sp>
        <p:nvSpPr>
          <p:cNvPr id="40" name="Text 38"/>
          <p:cNvSpPr/>
          <p:nvPr/>
        </p:nvSpPr>
        <p:spPr>
          <a:xfrm>
            <a:off x="6903720" y="2606040"/>
            <a:ext cx="4663440" cy="2103120"/>
          </a:xfrm>
          <a:prstGeom prst="rect">
            <a:avLst/>
          </a:prstGeom>
          <a:noFill/>
          <a:ln/>
        </p:spPr>
        <p:txBody>
          <a:bodyPr wrap="square" rtlCol="0" anchor="ctr"/>
          <a:lstStyle/>
          <a:p>
            <a:pPr algn="l" indent="0" marL="0">
              <a:buNone/>
            </a:pPr>
            <a:r>
              <a:rPr lang="en-US" sz="1200" b="1" dirty="0">
                <a:solidFill>
                  <a:srgbClr val="E63946"/>
                </a:solidFill>
                <a:latin typeface="Courier New" pitchFamily="34" charset="0"/>
                <a:ea typeface="Courier New" pitchFamily="34" charset="-122"/>
                <a:cs typeface="Courier New" pitchFamily="34" charset="-120"/>
              </a:rPr>
              <a:t>"enron" </a:t>
            </a:r>
            <a:pPr algn="l" indent="0" marL="0">
              <a:buNone/>
            </a:pPr>
            <a:r>
              <a:rPr lang="en-US" sz="1200" dirty="0">
                <a:solidFill>
                  <a:srgbClr val="1D3557"/>
                </a:solidFill>
                <a:latin typeface="Calibri" pitchFamily="34" charset="0"/>
                <a:ea typeface="Calibri" pitchFamily="34" charset="-122"/>
                <a:cs typeface="Calibri" pitchFamily="34" charset="-120"/>
              </a:rPr>
              <a:t>— identifies emails from the Enron corpus (legitimate source).</a:t>
            </a:r>
            <a:endParaRPr lang="en-US" sz="1200" dirty="0"/>
          </a:p>
          <a:p>
            <a:pPr algn="l" indent="0" marL="0">
              <a:buNone/>
            </a:pPr>
            <a:r>
              <a:rPr lang="en-US" sz="1200" b="1" dirty="0">
                <a:solidFill>
                  <a:srgbClr val="E63946"/>
                </a:solidFill>
                <a:latin typeface="Courier New" pitchFamily="34" charset="0"/>
                <a:ea typeface="Courier New" pitchFamily="34" charset="-122"/>
                <a:cs typeface="Courier New" pitchFamily="34" charset="-120"/>
              </a:rPr>
              <a:t>"aug 2008", "wed 06" </a:t>
            </a:r>
            <a:pPr algn="l" indent="0" marL="0">
              <a:spcBef>
                <a:spcPts val="1000"/>
              </a:spcBef>
              <a:buNone/>
            </a:pPr>
            <a:r>
              <a:rPr lang="en-US" sz="1200" dirty="0">
                <a:solidFill>
                  <a:srgbClr val="1D3557"/>
                </a:solidFill>
                <a:latin typeface="Calibri" pitchFamily="34" charset="0"/>
                <a:ea typeface="Calibri" pitchFamily="34" charset="-122"/>
                <a:cs typeface="Calibri" pitchFamily="34" charset="-120"/>
              </a:rPr>
              <a:t>— timestamps unique to the CEAS 2008 corpus.</a:t>
            </a:r>
            <a:endParaRPr lang="en-US" sz="1200" dirty="0"/>
          </a:p>
          <a:p>
            <a:pPr algn="l" indent="0" marL="0">
              <a:buNone/>
            </a:pPr>
            <a:r>
              <a:rPr lang="en-US" sz="1200" b="1" dirty="0">
                <a:solidFill>
                  <a:srgbClr val="E63946"/>
                </a:solidFill>
                <a:latin typeface="Courier New" pitchFamily="34" charset="0"/>
                <a:ea typeface="Courier New" pitchFamily="34" charset="-122"/>
                <a:cs typeface="Courier New" pitchFamily="34" charset="-120"/>
              </a:rPr>
              <a:t>"mailing list", "opensuse" </a:t>
            </a:r>
            <a:pPr algn="l" indent="0" marL="0">
              <a:spcBef>
                <a:spcPts val="1000"/>
              </a:spcBef>
              <a:buNone/>
            </a:pPr>
            <a:r>
              <a:rPr lang="en-US" sz="1200" dirty="0">
                <a:solidFill>
                  <a:srgbClr val="1D3557"/>
                </a:solidFill>
                <a:latin typeface="Calibri" pitchFamily="34" charset="0"/>
                <a:ea typeface="Calibri" pitchFamily="34" charset="-122"/>
                <a:cs typeface="Calibri" pitchFamily="34" charset="-120"/>
              </a:rPr>
              <a:t>— markers of legitimate list traffic.</a:t>
            </a:r>
            <a:endParaRPr lang="en-US" sz="1200" dirty="0"/>
          </a:p>
        </p:txBody>
      </p:sp>
      <p:sp>
        <p:nvSpPr>
          <p:cNvPr id="41" name="Text 39"/>
          <p:cNvSpPr/>
          <p:nvPr/>
        </p:nvSpPr>
        <p:spPr>
          <a:xfrm>
            <a:off x="6903720" y="4937760"/>
            <a:ext cx="4663440" cy="1005840"/>
          </a:xfrm>
          <a:prstGeom prst="rect">
            <a:avLst/>
          </a:prstGeom>
          <a:noFill/>
          <a:ln/>
        </p:spPr>
        <p:txBody>
          <a:bodyPr wrap="square" rtlCol="0" anchor="ctr"/>
          <a:lstStyle/>
          <a:p>
            <a:pPr algn="l" indent="0" marL="0">
              <a:buNone/>
            </a:pPr>
            <a:r>
              <a:rPr lang="en-US" sz="1200" b="1" dirty="0">
                <a:solidFill>
                  <a:srgbClr val="8B5A00"/>
                </a:solidFill>
                <a:latin typeface="Cambria" pitchFamily="34" charset="0"/>
                <a:ea typeface="Cambria" pitchFamily="34" charset="-122"/>
                <a:cs typeface="Cambria" pitchFamily="34" charset="-120"/>
              </a:rPr>
              <a:t>Meaning:  </a:t>
            </a:r>
            <a:pPr algn="l" indent="0" marL="0">
              <a:buNone/>
            </a:pPr>
            <a:r>
              <a:rPr lang="en-US" sz="1200" dirty="0">
                <a:solidFill>
                  <a:srgbClr val="1D3557"/>
                </a:solidFill>
                <a:latin typeface="Calibri" pitchFamily="34" charset="0"/>
                <a:ea typeface="Calibri" pitchFamily="34" charset="-122"/>
                <a:cs typeface="Calibri" pitchFamily="34" charset="-120"/>
              </a:rPr>
              <a:t>the model has partly learned to identify the </a:t>
            </a:r>
            <a:pPr algn="l" indent="0" marL="0">
              <a:buNone/>
            </a:pPr>
            <a:r>
              <a:rPr lang="en-US" sz="1200" i="1" dirty="0">
                <a:solidFill>
                  <a:srgbClr val="1D3557"/>
                </a:solidFill>
                <a:latin typeface="Calibri" pitchFamily="34" charset="0"/>
                <a:ea typeface="Calibri" pitchFamily="34" charset="-122"/>
                <a:cs typeface="Calibri" pitchFamily="34" charset="-120"/>
              </a:rPr>
              <a:t>source</a:t>
            </a:r>
            <a:pPr algn="l" indent="0" marL="0">
              <a:buNone/>
            </a:pPr>
            <a:r>
              <a:rPr lang="en-US" sz="1200" dirty="0">
                <a:solidFill>
                  <a:srgbClr val="1D3557"/>
                </a:solidFill>
                <a:latin typeface="Calibri" pitchFamily="34" charset="0"/>
                <a:ea typeface="Calibri" pitchFamily="34" charset="-122"/>
                <a:cs typeface="Calibri" pitchFamily="34" charset="-120"/>
              </a:rPr>
              <a:t> of the email rather than whether it's truly phishing.</a:t>
            </a:r>
            <a:endParaRPr lang="en-US" sz="1200" dirty="0"/>
          </a:p>
        </p:txBody>
      </p:sp>
      <p:sp>
        <p:nvSpPr>
          <p:cNvPr id="42" name="Text 40"/>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43" name="Text 4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Discussion — Parametric vs Non-Parametric</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Shape 4"/>
          <p:cNvSpPr/>
          <p:nvPr/>
        </p:nvSpPr>
        <p:spPr>
          <a:xfrm>
            <a:off x="640080" y="1280160"/>
            <a:ext cx="5394960" cy="4754880"/>
          </a:xfrm>
          <a:prstGeom prst="roundRect">
            <a:avLst>
              <a:gd name="adj" fmla="val 1538"/>
            </a:avLst>
          </a:prstGeom>
          <a:solidFill>
            <a:srgbClr val="F8F9FA"/>
          </a:solidFill>
          <a:ln/>
        </p:spPr>
      </p:sp>
      <p:sp>
        <p:nvSpPr>
          <p:cNvPr id="7" name="Shape 5"/>
          <p:cNvSpPr/>
          <p:nvPr/>
        </p:nvSpPr>
        <p:spPr>
          <a:xfrm>
            <a:off x="640080" y="1280160"/>
            <a:ext cx="5394960" cy="457200"/>
          </a:xfrm>
          <a:prstGeom prst="rect">
            <a:avLst/>
          </a:prstGeom>
          <a:solidFill>
            <a:srgbClr val="1C7293"/>
          </a:solidFill>
          <a:ln/>
        </p:spPr>
      </p:sp>
      <p:sp>
        <p:nvSpPr>
          <p:cNvPr id="8" name="Text 6"/>
          <p:cNvSpPr/>
          <p:nvPr/>
        </p:nvSpPr>
        <p:spPr>
          <a:xfrm>
            <a:off x="822960" y="1280160"/>
            <a:ext cx="5212080" cy="457200"/>
          </a:xfrm>
          <a:prstGeom prst="rect">
            <a:avLst/>
          </a:prstGeom>
          <a:noFill/>
          <a:ln/>
        </p:spPr>
        <p:txBody>
          <a:bodyPr wrap="square" lIns="0" tIns="0" rIns="0" bIns="0" rtlCol="0" anchor="ctr"/>
          <a:lstStyle/>
          <a:p>
            <a:pPr algn="l" indent="0" marL="0">
              <a:buNone/>
            </a:pPr>
            <a:r>
              <a:rPr lang="en-US" sz="1600" b="1" spc="600" kern="0" dirty="0">
                <a:solidFill>
                  <a:srgbClr val="FFFFFF"/>
                </a:solidFill>
                <a:latin typeface="Cambria" pitchFamily="34" charset="0"/>
                <a:ea typeface="Cambria" pitchFamily="34" charset="-122"/>
                <a:cs typeface="Cambria" pitchFamily="34" charset="-120"/>
              </a:rPr>
              <a:t>PARAMETRIC</a:t>
            </a:r>
            <a:endParaRPr lang="en-US" sz="1600" dirty="0"/>
          </a:p>
        </p:txBody>
      </p:sp>
      <p:sp>
        <p:nvSpPr>
          <p:cNvPr id="9" name="Text 7"/>
          <p:cNvSpPr/>
          <p:nvPr/>
        </p:nvSpPr>
        <p:spPr>
          <a:xfrm>
            <a:off x="822960" y="1828800"/>
            <a:ext cx="5029200" cy="320040"/>
          </a:xfrm>
          <a:prstGeom prst="rect">
            <a:avLst/>
          </a:prstGeom>
          <a:noFill/>
          <a:ln/>
        </p:spPr>
        <p:txBody>
          <a:bodyPr wrap="square" lIns="0" tIns="0" rIns="0" bIns="0" rtlCol="0" anchor="ctr"/>
          <a:lstStyle/>
          <a:p>
            <a:pPr algn="l" indent="0" marL="0">
              <a:buNone/>
            </a:pPr>
            <a:r>
              <a:rPr lang="en-US" sz="1200" i="1" dirty="0">
                <a:solidFill>
                  <a:srgbClr val="6C757D"/>
                </a:solidFill>
                <a:latin typeface="Calibri" pitchFamily="34" charset="0"/>
                <a:ea typeface="Calibri" pitchFamily="34" charset="-122"/>
                <a:cs typeface="Calibri" pitchFamily="34" charset="-120"/>
              </a:rPr>
              <a:t>Fixed functional form, bounded parameters</a:t>
            </a:r>
            <a:endParaRPr lang="en-US" sz="1200" dirty="0"/>
          </a:p>
        </p:txBody>
      </p:sp>
      <p:sp>
        <p:nvSpPr>
          <p:cNvPr id="10" name="Text 8"/>
          <p:cNvSpPr/>
          <p:nvPr/>
        </p:nvSpPr>
        <p:spPr>
          <a:xfrm>
            <a:off x="822960" y="2194560"/>
            <a:ext cx="5029200" cy="2743200"/>
          </a:xfrm>
          <a:prstGeom prst="rect">
            <a:avLst/>
          </a:prstGeom>
          <a:noFill/>
          <a:ln/>
        </p:spPr>
        <p:txBody>
          <a:bodyPr wrap="square" rtlCol="0" anchor="ctr"/>
          <a:lstStyle/>
          <a:p>
            <a:pPr algn="l" marL="342900" indent="-342900">
              <a:spcAft>
                <a:spcPts val="400"/>
              </a:spcAft>
              <a:buSzPct val="100000"/>
              <a:buChar char="▪"/>
            </a:pPr>
            <a:r>
              <a:rPr lang="en-US" sz="1300" b="1" dirty="0">
                <a:solidFill>
                  <a:srgbClr val="1D3557"/>
                </a:solidFill>
                <a:latin typeface="Calibri" pitchFamily="34" charset="0"/>
                <a:ea typeface="Calibri" pitchFamily="34" charset="-122"/>
                <a:cs typeface="Calibri" pitchFamily="34" charset="-120"/>
              </a:rPr>
              <a:t>Logistic Regression</a:t>
            </a:r>
            <a:endParaRPr lang="en-US" sz="1300" dirty="0"/>
          </a:p>
          <a:p>
            <a:pPr algn="l" indent="0" marL="0">
              <a:spcAft>
                <a:spcPts val="1000"/>
              </a:spcAft>
              <a:buNone/>
            </a:pPr>
            <a:r>
              <a:rPr lang="en-US" sz="1100" dirty="0">
                <a:solidFill>
                  <a:srgbClr val="6C757D"/>
                </a:solidFill>
                <a:latin typeface="Calibri" pitchFamily="34" charset="0"/>
                <a:ea typeface="Calibri" pitchFamily="34" charset="-122"/>
                <a:cs typeface="Calibri" pitchFamily="34" charset="-120"/>
              </a:rPr>
              <a:t>F1 = 0.9832  |  Recall = 0.9858</a:t>
            </a:r>
            <a:endParaRPr lang="en-US" sz="1300" dirty="0"/>
          </a:p>
          <a:p>
            <a:pPr algn="l" marL="342900" indent="-342900">
              <a:spcAft>
                <a:spcPts val="400"/>
              </a:spcAft>
              <a:buSzPct val="100000"/>
              <a:buChar char="▪"/>
            </a:pPr>
            <a:r>
              <a:rPr lang="en-US" sz="1300" b="1" dirty="0">
                <a:solidFill>
                  <a:srgbClr val="1D3557"/>
                </a:solidFill>
                <a:latin typeface="Calibri" pitchFamily="34" charset="0"/>
                <a:ea typeface="Calibri" pitchFamily="34" charset="-122"/>
                <a:cs typeface="Calibri" pitchFamily="34" charset="-120"/>
              </a:rPr>
              <a:t>Multinomial Naive Bayes</a:t>
            </a:r>
            <a:endParaRPr lang="en-US" sz="1300" dirty="0"/>
          </a:p>
          <a:p>
            <a:pPr algn="l" indent="0" marL="0">
              <a:spcAft>
                <a:spcPts val="1000"/>
              </a:spcAft>
              <a:buNone/>
            </a:pPr>
            <a:r>
              <a:rPr lang="en-US" sz="1100" dirty="0">
                <a:solidFill>
                  <a:srgbClr val="6C757D"/>
                </a:solidFill>
                <a:latin typeface="Calibri" pitchFamily="34" charset="0"/>
                <a:ea typeface="Calibri" pitchFamily="34" charset="-122"/>
                <a:cs typeface="Calibri" pitchFamily="34" charset="-120"/>
              </a:rPr>
              <a:t>F1 = 0.9542  |  Recall = 0.9257</a:t>
            </a:r>
            <a:endParaRPr lang="en-US" sz="1300" dirty="0"/>
          </a:p>
          <a:p>
            <a:pPr algn="l" marL="342900" indent="-342900">
              <a:spcAft>
                <a:spcPts val="400"/>
              </a:spcAft>
              <a:buSzPct val="100000"/>
              <a:buChar char="▪"/>
            </a:pPr>
            <a:r>
              <a:rPr lang="en-US" sz="1300" b="1" dirty="0">
                <a:solidFill>
                  <a:srgbClr val="1D3557"/>
                </a:solidFill>
                <a:latin typeface="Calibri" pitchFamily="34" charset="0"/>
                <a:ea typeface="Calibri" pitchFamily="34" charset="-122"/>
                <a:cs typeface="Calibri" pitchFamily="34" charset="-120"/>
              </a:rPr>
              <a:t>Neural Network (MLP)</a:t>
            </a:r>
            <a:endParaRPr lang="en-US" sz="1300" dirty="0"/>
          </a:p>
          <a:p>
            <a:pPr algn="l" indent="0" marL="0">
              <a:buNone/>
            </a:pPr>
            <a:r>
              <a:rPr lang="en-US" sz="1100" dirty="0">
                <a:solidFill>
                  <a:srgbClr val="6C757D"/>
                </a:solidFill>
                <a:latin typeface="Calibri" pitchFamily="34" charset="0"/>
                <a:ea typeface="Calibri" pitchFamily="34" charset="-122"/>
                <a:cs typeface="Calibri" pitchFamily="34" charset="-120"/>
              </a:rPr>
              <a:t>F1 = 0.9850  |  Recall = 0.9837</a:t>
            </a:r>
            <a:endParaRPr lang="en-US" sz="1300" dirty="0"/>
          </a:p>
        </p:txBody>
      </p:sp>
      <p:sp>
        <p:nvSpPr>
          <p:cNvPr id="11" name="Text 9"/>
          <p:cNvSpPr/>
          <p:nvPr/>
        </p:nvSpPr>
        <p:spPr>
          <a:xfrm>
            <a:off x="822960" y="5212080"/>
            <a:ext cx="5029200" cy="731520"/>
          </a:xfrm>
          <a:prstGeom prst="rect">
            <a:avLst/>
          </a:prstGeom>
          <a:noFill/>
          <a:ln/>
        </p:spPr>
        <p:txBody>
          <a:bodyPr wrap="square" lIns="0" tIns="0" rIns="0" bIns="0" rtlCol="0" anchor="ctr"/>
          <a:lstStyle/>
          <a:p>
            <a:pPr algn="l" indent="0" marL="0">
              <a:buNone/>
            </a:pPr>
            <a:r>
              <a:rPr lang="en-US" sz="1200" b="1" i="1" dirty="0">
                <a:solidFill>
                  <a:srgbClr val="1C7293"/>
                </a:solidFill>
                <a:latin typeface="Calibri" pitchFamily="34" charset="0"/>
                <a:ea typeface="Calibri" pitchFamily="34" charset="-122"/>
                <a:cs typeface="Calibri" pitchFamily="34" charset="-120"/>
              </a:rPr>
              <a:t>Best precision, but ceiling limited by assumptions.</a:t>
            </a:r>
            <a:endParaRPr lang="en-US" sz="1200" dirty="0"/>
          </a:p>
        </p:txBody>
      </p:sp>
      <p:sp>
        <p:nvSpPr>
          <p:cNvPr id="12" name="Shape 10"/>
          <p:cNvSpPr/>
          <p:nvPr/>
        </p:nvSpPr>
        <p:spPr>
          <a:xfrm>
            <a:off x="6309360" y="1280160"/>
            <a:ext cx="5394960" cy="4754880"/>
          </a:xfrm>
          <a:prstGeom prst="roundRect">
            <a:avLst>
              <a:gd name="adj" fmla="val 1538"/>
            </a:avLst>
          </a:prstGeom>
          <a:solidFill>
            <a:srgbClr val="F8F9FA"/>
          </a:solidFill>
          <a:ln/>
        </p:spPr>
      </p:sp>
      <p:sp>
        <p:nvSpPr>
          <p:cNvPr id="13" name="Shape 11"/>
          <p:cNvSpPr/>
          <p:nvPr/>
        </p:nvSpPr>
        <p:spPr>
          <a:xfrm>
            <a:off x="6309360" y="1280160"/>
            <a:ext cx="5394960" cy="457200"/>
          </a:xfrm>
          <a:prstGeom prst="rect">
            <a:avLst/>
          </a:prstGeom>
          <a:solidFill>
            <a:srgbClr val="0F2942"/>
          </a:solidFill>
          <a:ln/>
        </p:spPr>
      </p:sp>
      <p:sp>
        <p:nvSpPr>
          <p:cNvPr id="14" name="Text 12"/>
          <p:cNvSpPr/>
          <p:nvPr/>
        </p:nvSpPr>
        <p:spPr>
          <a:xfrm>
            <a:off x="6492240" y="1280160"/>
            <a:ext cx="5212080" cy="457200"/>
          </a:xfrm>
          <a:prstGeom prst="rect">
            <a:avLst/>
          </a:prstGeom>
          <a:noFill/>
          <a:ln/>
        </p:spPr>
        <p:txBody>
          <a:bodyPr wrap="square" lIns="0" tIns="0" rIns="0" bIns="0" rtlCol="0" anchor="ctr"/>
          <a:lstStyle/>
          <a:p>
            <a:pPr algn="l" indent="0" marL="0">
              <a:buNone/>
            </a:pPr>
            <a:r>
              <a:rPr lang="en-US" sz="1600" b="1" spc="600" kern="0" dirty="0">
                <a:solidFill>
                  <a:srgbClr val="FFFFFF"/>
                </a:solidFill>
                <a:latin typeface="Cambria" pitchFamily="34" charset="0"/>
                <a:ea typeface="Cambria" pitchFamily="34" charset="-122"/>
                <a:cs typeface="Cambria" pitchFamily="34" charset="-120"/>
              </a:rPr>
              <a:t>NON-PARAMETRIC</a:t>
            </a:r>
            <a:endParaRPr lang="en-US" sz="1600" dirty="0"/>
          </a:p>
        </p:txBody>
      </p:sp>
      <p:sp>
        <p:nvSpPr>
          <p:cNvPr id="15" name="Text 13"/>
          <p:cNvSpPr/>
          <p:nvPr/>
        </p:nvSpPr>
        <p:spPr>
          <a:xfrm>
            <a:off x="6492240" y="1828800"/>
            <a:ext cx="5029200" cy="320040"/>
          </a:xfrm>
          <a:prstGeom prst="rect">
            <a:avLst/>
          </a:prstGeom>
          <a:noFill/>
          <a:ln/>
        </p:spPr>
        <p:txBody>
          <a:bodyPr wrap="square" lIns="0" tIns="0" rIns="0" bIns="0" rtlCol="0" anchor="ctr"/>
          <a:lstStyle/>
          <a:p>
            <a:pPr algn="l" indent="0" marL="0">
              <a:buNone/>
            </a:pPr>
            <a:r>
              <a:rPr lang="en-US" sz="1200" i="1" dirty="0">
                <a:solidFill>
                  <a:srgbClr val="6C757D"/>
                </a:solidFill>
                <a:latin typeface="Calibri" pitchFamily="34" charset="0"/>
                <a:ea typeface="Calibri" pitchFamily="34" charset="-122"/>
                <a:cs typeface="Calibri" pitchFamily="34" charset="-120"/>
              </a:rPr>
              <a:t>Complexity grows with the data</a:t>
            </a:r>
            <a:endParaRPr lang="en-US" sz="1200" dirty="0"/>
          </a:p>
        </p:txBody>
      </p:sp>
      <p:sp>
        <p:nvSpPr>
          <p:cNvPr id="16" name="Text 14"/>
          <p:cNvSpPr/>
          <p:nvPr/>
        </p:nvSpPr>
        <p:spPr>
          <a:xfrm>
            <a:off x="6492240" y="2194560"/>
            <a:ext cx="5029200" cy="1280160"/>
          </a:xfrm>
          <a:prstGeom prst="rect">
            <a:avLst/>
          </a:prstGeom>
          <a:noFill/>
          <a:ln/>
        </p:spPr>
        <p:txBody>
          <a:bodyPr wrap="square" rtlCol="0" anchor="ctr"/>
          <a:lstStyle/>
          <a:p>
            <a:pPr algn="l" marL="342900" indent="-342900">
              <a:spcAft>
                <a:spcPts val="400"/>
              </a:spcAft>
              <a:buSzPct val="100000"/>
              <a:buChar char="▪"/>
            </a:pPr>
            <a:r>
              <a:rPr lang="en-US" sz="1300" b="1" dirty="0">
                <a:solidFill>
                  <a:srgbClr val="1D3557"/>
                </a:solidFill>
                <a:latin typeface="Calibri" pitchFamily="34" charset="0"/>
                <a:ea typeface="Calibri" pitchFamily="34" charset="-122"/>
                <a:cs typeface="Calibri" pitchFamily="34" charset="-120"/>
              </a:rPr>
              <a:t>Random Forest</a:t>
            </a:r>
            <a:endParaRPr lang="en-US" sz="1300" dirty="0"/>
          </a:p>
          <a:p>
            <a:pPr algn="l" indent="0" marL="0">
              <a:spcAft>
                <a:spcPts val="1000"/>
              </a:spcAft>
              <a:buNone/>
            </a:pPr>
            <a:r>
              <a:rPr lang="en-US" sz="1100" dirty="0">
                <a:solidFill>
                  <a:srgbClr val="6C757D"/>
                </a:solidFill>
                <a:latin typeface="Calibri" pitchFamily="34" charset="0"/>
                <a:ea typeface="Calibri" pitchFamily="34" charset="-122"/>
                <a:cs typeface="Calibri" pitchFamily="34" charset="-120"/>
              </a:rPr>
              <a:t>F1 = 0.9816  |  Recall = 0.9894</a:t>
            </a:r>
            <a:endParaRPr lang="en-US" sz="1300" dirty="0"/>
          </a:p>
        </p:txBody>
      </p:sp>
      <p:sp>
        <p:nvSpPr>
          <p:cNvPr id="17" name="Shape 15"/>
          <p:cNvSpPr/>
          <p:nvPr/>
        </p:nvSpPr>
        <p:spPr>
          <a:xfrm>
            <a:off x="6492240" y="3566160"/>
            <a:ext cx="5029200" cy="1371600"/>
          </a:xfrm>
          <a:prstGeom prst="roundRect">
            <a:avLst>
              <a:gd name="adj" fmla="val 3333"/>
            </a:avLst>
          </a:prstGeom>
          <a:solidFill>
            <a:srgbClr val="2A9D8F"/>
          </a:solidFill>
          <a:ln/>
        </p:spPr>
      </p:sp>
      <p:sp>
        <p:nvSpPr>
          <p:cNvPr id="18" name="Text 16"/>
          <p:cNvSpPr/>
          <p:nvPr/>
        </p:nvSpPr>
        <p:spPr>
          <a:xfrm>
            <a:off x="6492240" y="3611880"/>
            <a:ext cx="5029200" cy="77724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0.9894</a:t>
            </a:r>
            <a:endParaRPr lang="en-US" sz="4200" dirty="0"/>
          </a:p>
        </p:txBody>
      </p:sp>
      <p:sp>
        <p:nvSpPr>
          <p:cNvPr id="19" name="Text 17"/>
          <p:cNvSpPr/>
          <p:nvPr/>
        </p:nvSpPr>
        <p:spPr>
          <a:xfrm>
            <a:off x="6492240" y="4480560"/>
            <a:ext cx="5029200" cy="411480"/>
          </a:xfrm>
          <a:prstGeom prst="rect">
            <a:avLst/>
          </a:prstGeom>
          <a:noFill/>
          <a:ln/>
        </p:spPr>
        <p:txBody>
          <a:bodyPr wrap="square" lIns="0" tIns="0" rIns="0" bIns="0" rtlCol="0" anchor="ctr"/>
          <a:lstStyle/>
          <a:p>
            <a:pPr algn="ctr" indent="0" marL="0">
              <a:buNone/>
            </a:pPr>
            <a:r>
              <a:rPr lang="en-US" sz="1200" b="1" spc="600" kern="0" dirty="0">
                <a:solidFill>
                  <a:srgbClr val="FFFFFF"/>
                </a:solidFill>
                <a:latin typeface="Calibri" pitchFamily="34" charset="0"/>
                <a:ea typeface="Calibri" pitchFamily="34" charset="-122"/>
                <a:cs typeface="Calibri" pitchFamily="34" charset="-120"/>
              </a:rPr>
              <a:t>HIGHEST RECALL</a:t>
            </a:r>
            <a:endParaRPr lang="en-US" sz="1200" dirty="0"/>
          </a:p>
        </p:txBody>
      </p:sp>
      <p:sp>
        <p:nvSpPr>
          <p:cNvPr id="20" name="Text 18"/>
          <p:cNvSpPr/>
          <p:nvPr/>
        </p:nvSpPr>
        <p:spPr>
          <a:xfrm>
            <a:off x="6492240" y="5212080"/>
            <a:ext cx="5029200" cy="731520"/>
          </a:xfrm>
          <a:prstGeom prst="rect">
            <a:avLst/>
          </a:prstGeom>
          <a:noFill/>
          <a:ln/>
        </p:spPr>
        <p:txBody>
          <a:bodyPr wrap="square" lIns="0" tIns="0" rIns="0" bIns="0" rtlCol="0" anchor="ctr"/>
          <a:lstStyle/>
          <a:p>
            <a:pPr algn="l" indent="0" marL="0">
              <a:buNone/>
            </a:pPr>
            <a:r>
              <a:rPr lang="en-US" sz="1200" b="1" i="1" dirty="0">
                <a:solidFill>
                  <a:srgbClr val="0F2942"/>
                </a:solidFill>
                <a:latin typeface="Calibri" pitchFamily="34" charset="0"/>
                <a:ea typeface="Calibri" pitchFamily="34" charset="-122"/>
                <a:cs typeface="Calibri" pitchFamily="34" charset="-120"/>
              </a:rPr>
              <a:t>Captures non-linear feature interactions no linear model can express.</a:t>
            </a:r>
            <a:endParaRPr lang="en-US" sz="1200" dirty="0"/>
          </a:p>
        </p:txBody>
      </p:sp>
      <p:sp>
        <p:nvSpPr>
          <p:cNvPr id="21" name="Text 19"/>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22" name="Text 2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Discussion — Which Model to Deploy?</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Shape 4"/>
          <p:cNvSpPr/>
          <p:nvPr/>
        </p:nvSpPr>
        <p:spPr>
          <a:xfrm>
            <a:off x="640080" y="1280160"/>
            <a:ext cx="10972800" cy="2286000"/>
          </a:xfrm>
          <a:prstGeom prst="roundRect">
            <a:avLst>
              <a:gd name="adj" fmla="val 3200"/>
            </a:avLst>
          </a:prstGeom>
          <a:solidFill>
            <a:srgbClr val="0F2942"/>
          </a:solidFill>
          <a:ln/>
        </p:spPr>
      </p:sp>
      <p:sp>
        <p:nvSpPr>
          <p:cNvPr id="7" name="Text 5"/>
          <p:cNvSpPr/>
          <p:nvPr/>
        </p:nvSpPr>
        <p:spPr>
          <a:xfrm>
            <a:off x="822960" y="1417320"/>
            <a:ext cx="10607040" cy="365760"/>
          </a:xfrm>
          <a:prstGeom prst="rect">
            <a:avLst/>
          </a:prstGeom>
          <a:noFill/>
          <a:ln/>
        </p:spPr>
        <p:txBody>
          <a:bodyPr wrap="square" lIns="0" tIns="0" rIns="0" bIns="0" rtlCol="0" anchor="ctr"/>
          <a:lstStyle/>
          <a:p>
            <a:pPr algn="l" indent="0" marL="0">
              <a:buNone/>
            </a:pPr>
            <a:r>
              <a:rPr lang="en-US" sz="1200" b="1" spc="800" kern="0" dirty="0">
                <a:solidFill>
                  <a:srgbClr val="F4A261"/>
                </a:solidFill>
                <a:latin typeface="Calibri" pitchFamily="34" charset="0"/>
                <a:ea typeface="Calibri" pitchFamily="34" charset="-122"/>
                <a:cs typeface="Calibri" pitchFamily="34" charset="-120"/>
              </a:rPr>
              <a:t>RECOMMENDED FOR DEPLOYMENT</a:t>
            </a:r>
            <a:endParaRPr lang="en-US" sz="1200" dirty="0"/>
          </a:p>
        </p:txBody>
      </p:sp>
      <p:sp>
        <p:nvSpPr>
          <p:cNvPr id="8" name="Text 6"/>
          <p:cNvSpPr/>
          <p:nvPr/>
        </p:nvSpPr>
        <p:spPr>
          <a:xfrm>
            <a:off x="822960" y="1828800"/>
            <a:ext cx="7315200" cy="73152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Random Forest</a:t>
            </a:r>
            <a:endParaRPr lang="en-US" sz="4400" dirty="0"/>
          </a:p>
        </p:txBody>
      </p:sp>
      <p:sp>
        <p:nvSpPr>
          <p:cNvPr id="9" name="Text 7"/>
          <p:cNvSpPr/>
          <p:nvPr/>
        </p:nvSpPr>
        <p:spPr>
          <a:xfrm>
            <a:off x="7772400" y="1828800"/>
            <a:ext cx="3931920" cy="1645920"/>
          </a:xfrm>
          <a:prstGeom prst="rect">
            <a:avLst/>
          </a:prstGeom>
          <a:noFill/>
          <a:ln/>
        </p:spPr>
        <p:txBody>
          <a:bodyPr wrap="square" lIns="0" tIns="0" rIns="0" bIns="0" rtlCol="0" anchor="t"/>
          <a:lstStyle/>
          <a:p>
            <a:pPr algn="l" indent="0" marL="0">
              <a:buNone/>
            </a:pPr>
            <a:r>
              <a:rPr lang="en-US" sz="3000" b="1" dirty="0">
                <a:solidFill>
                  <a:srgbClr val="F4A261"/>
                </a:solidFill>
                <a:latin typeface="Cambria" pitchFamily="34" charset="0"/>
                <a:ea typeface="Cambria" pitchFamily="34" charset="-122"/>
                <a:cs typeface="Cambria" pitchFamily="34" charset="-120"/>
              </a:rPr>
              <a:t>33% </a:t>
            </a:r>
            <a:pPr algn="l" indent="0" marL="0">
              <a:buNone/>
            </a:pPr>
            <a:r>
              <a:rPr lang="en-US" sz="1300" dirty="0">
                <a:solidFill>
                  <a:srgbClr val="FFFFFF"/>
                </a:solidFill>
                <a:latin typeface="Calibri" pitchFamily="34" charset="0"/>
                <a:ea typeface="Calibri" pitchFamily="34" charset="-122"/>
                <a:cs typeface="Calibri" pitchFamily="34" charset="-120"/>
              </a:rPr>
              <a:t>fewer missed phishing emails than Logistic Regression</a:t>
            </a:r>
            <a:pPr algn="l" indent="0" marL="0">
              <a:buNone/>
            </a:pPr>
            <a:r>
              <a:rPr lang="en-US" sz="3000" dirty="0">
                <a:solidFill>
                  <a:srgbClr val="000000"/>
                </a:solidFill>
                <a:latin typeface="Calibri" pitchFamily="34" charset="0"/>
                <a:ea typeface="Calibri" pitchFamily="34" charset="-122"/>
                <a:cs typeface="Calibri" pitchFamily="34" charset="-120"/>
              </a:rPr>
              <a:t>
</a:t>
            </a:r>
            <a:pPr algn="l" indent="0" marL="0">
              <a:buNone/>
            </a:pPr>
            <a:r>
              <a:rPr lang="en-US" sz="3000" b="1" dirty="0">
                <a:solidFill>
                  <a:srgbClr val="F4A261"/>
                </a:solidFill>
                <a:latin typeface="Cambria" pitchFamily="34" charset="0"/>
                <a:ea typeface="Cambria" pitchFamily="34" charset="-122"/>
                <a:cs typeface="Cambria" pitchFamily="34" charset="-120"/>
              </a:rPr>
              <a:t>35% </a:t>
            </a:r>
            <a:pPr algn="l" indent="0" marL="0">
              <a:buNone/>
            </a:pPr>
            <a:r>
              <a:rPr lang="en-US" sz="1300" dirty="0">
                <a:solidFill>
                  <a:srgbClr val="FFFFFF"/>
                </a:solidFill>
                <a:latin typeface="Calibri" pitchFamily="34" charset="0"/>
                <a:ea typeface="Calibri" pitchFamily="34" charset="-122"/>
                <a:cs typeface="Calibri" pitchFamily="34" charset="-120"/>
              </a:rPr>
              <a:t>fewer missed phishing emails than Neural Network</a:t>
            </a:r>
            <a:endParaRPr lang="en-US" sz="3000" dirty="0"/>
          </a:p>
        </p:txBody>
      </p:sp>
      <p:sp>
        <p:nvSpPr>
          <p:cNvPr id="10" name="Text 8"/>
          <p:cNvSpPr/>
          <p:nvPr/>
        </p:nvSpPr>
        <p:spPr>
          <a:xfrm>
            <a:off x="640080" y="3840480"/>
            <a:ext cx="10972800" cy="457200"/>
          </a:xfrm>
          <a:prstGeom prst="rect">
            <a:avLst/>
          </a:prstGeom>
          <a:noFill/>
          <a:ln/>
        </p:spPr>
        <p:txBody>
          <a:bodyPr wrap="square" lIns="0" tIns="0" rIns="0" bIns="0" rtlCol="0" anchor="ctr"/>
          <a:lstStyle/>
          <a:p>
            <a:pPr algn="l" indent="0" marL="0">
              <a:buNone/>
            </a:pPr>
            <a:r>
              <a:rPr lang="en-US" sz="1800" b="1" dirty="0">
                <a:solidFill>
                  <a:srgbClr val="0F2942"/>
                </a:solidFill>
                <a:latin typeface="Cambria" pitchFamily="34" charset="0"/>
                <a:ea typeface="Cambria" pitchFamily="34" charset="-122"/>
                <a:cs typeface="Cambria" pitchFamily="34" charset="-120"/>
              </a:rPr>
              <a:t>Why Random Forest wins for real-world deployment</a:t>
            </a:r>
            <a:endParaRPr lang="en-US" sz="1800" dirty="0"/>
          </a:p>
        </p:txBody>
      </p:sp>
      <p:sp>
        <p:nvSpPr>
          <p:cNvPr id="11" name="Shape 9"/>
          <p:cNvSpPr/>
          <p:nvPr/>
        </p:nvSpPr>
        <p:spPr>
          <a:xfrm>
            <a:off x="640080" y="4434840"/>
            <a:ext cx="3520440" cy="1737360"/>
          </a:xfrm>
          <a:prstGeom prst="roundRect">
            <a:avLst>
              <a:gd name="adj" fmla="val 2632"/>
            </a:avLst>
          </a:prstGeom>
          <a:solidFill>
            <a:srgbClr val="F8F9FA"/>
          </a:solidFill>
          <a:ln/>
        </p:spPr>
      </p:sp>
      <p:sp>
        <p:nvSpPr>
          <p:cNvPr id="12" name="Shape 10"/>
          <p:cNvSpPr/>
          <p:nvPr/>
        </p:nvSpPr>
        <p:spPr>
          <a:xfrm>
            <a:off x="640080" y="4434840"/>
            <a:ext cx="137160" cy="1737360"/>
          </a:xfrm>
          <a:prstGeom prst="rect">
            <a:avLst/>
          </a:prstGeom>
          <a:solidFill>
            <a:srgbClr val="E63946"/>
          </a:solidFill>
          <a:ln/>
        </p:spPr>
      </p:sp>
      <p:sp>
        <p:nvSpPr>
          <p:cNvPr id="13" name="Text 11"/>
          <p:cNvSpPr/>
          <p:nvPr/>
        </p:nvSpPr>
        <p:spPr>
          <a:xfrm>
            <a:off x="960120" y="4526280"/>
            <a:ext cx="3063240" cy="365760"/>
          </a:xfrm>
          <a:prstGeom prst="rect">
            <a:avLst/>
          </a:prstGeom>
          <a:noFill/>
          <a:ln/>
        </p:spPr>
        <p:txBody>
          <a:bodyPr wrap="square" lIns="0" tIns="0" rIns="0" bIns="0" rtlCol="0" anchor="t"/>
          <a:lstStyle/>
          <a:p>
            <a:pPr algn="l" indent="0" marL="0">
              <a:buNone/>
            </a:pPr>
            <a:r>
              <a:rPr lang="en-US" sz="1400" b="1" dirty="0">
                <a:solidFill>
                  <a:srgbClr val="0F2942"/>
                </a:solidFill>
                <a:latin typeface="Cambria" pitchFamily="34" charset="0"/>
                <a:ea typeface="Cambria" pitchFamily="34" charset="-122"/>
                <a:cs typeface="Cambria" pitchFamily="34" charset="-120"/>
              </a:rPr>
              <a:t>Asymmetric Cost</a:t>
            </a:r>
            <a:endParaRPr lang="en-US" sz="1400" dirty="0"/>
          </a:p>
        </p:txBody>
      </p:sp>
      <p:sp>
        <p:nvSpPr>
          <p:cNvPr id="14" name="Text 12"/>
          <p:cNvSpPr/>
          <p:nvPr/>
        </p:nvSpPr>
        <p:spPr>
          <a:xfrm>
            <a:off x="960120" y="4892040"/>
            <a:ext cx="3063240" cy="118872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False negatives (missed phishing) cause real damage; false positives just fill a quarantine folder.</a:t>
            </a:r>
            <a:endParaRPr lang="en-US" sz="1200" dirty="0"/>
          </a:p>
        </p:txBody>
      </p:sp>
      <p:sp>
        <p:nvSpPr>
          <p:cNvPr id="15" name="Shape 13"/>
          <p:cNvSpPr/>
          <p:nvPr/>
        </p:nvSpPr>
        <p:spPr>
          <a:xfrm>
            <a:off x="4325112" y="4434840"/>
            <a:ext cx="3520440" cy="1737360"/>
          </a:xfrm>
          <a:prstGeom prst="roundRect">
            <a:avLst>
              <a:gd name="adj" fmla="val 2632"/>
            </a:avLst>
          </a:prstGeom>
          <a:solidFill>
            <a:srgbClr val="F8F9FA"/>
          </a:solidFill>
          <a:ln/>
        </p:spPr>
      </p:sp>
      <p:sp>
        <p:nvSpPr>
          <p:cNvPr id="16" name="Shape 14"/>
          <p:cNvSpPr/>
          <p:nvPr/>
        </p:nvSpPr>
        <p:spPr>
          <a:xfrm>
            <a:off x="4325112" y="4434840"/>
            <a:ext cx="137160" cy="1737360"/>
          </a:xfrm>
          <a:prstGeom prst="rect">
            <a:avLst/>
          </a:prstGeom>
          <a:solidFill>
            <a:srgbClr val="E63946"/>
          </a:solidFill>
          <a:ln/>
        </p:spPr>
      </p:sp>
      <p:sp>
        <p:nvSpPr>
          <p:cNvPr id="17" name="Text 15"/>
          <p:cNvSpPr/>
          <p:nvPr/>
        </p:nvSpPr>
        <p:spPr>
          <a:xfrm>
            <a:off x="4645152" y="4526280"/>
            <a:ext cx="3063240" cy="365760"/>
          </a:xfrm>
          <a:prstGeom prst="rect">
            <a:avLst/>
          </a:prstGeom>
          <a:noFill/>
          <a:ln/>
        </p:spPr>
        <p:txBody>
          <a:bodyPr wrap="square" lIns="0" tIns="0" rIns="0" bIns="0" rtlCol="0" anchor="t"/>
          <a:lstStyle/>
          <a:p>
            <a:pPr algn="l" indent="0" marL="0">
              <a:buNone/>
            </a:pPr>
            <a:r>
              <a:rPr lang="en-US" sz="1400" b="1" dirty="0">
                <a:solidFill>
                  <a:srgbClr val="0F2942"/>
                </a:solidFill>
                <a:latin typeface="Cambria" pitchFamily="34" charset="0"/>
                <a:ea typeface="Cambria" pitchFamily="34" charset="-122"/>
                <a:cs typeface="Cambria" pitchFamily="34" charset="-120"/>
              </a:rPr>
              <a:t>Highest Recall</a:t>
            </a:r>
            <a:endParaRPr lang="en-US" sz="1400" dirty="0"/>
          </a:p>
        </p:txBody>
      </p:sp>
      <p:sp>
        <p:nvSpPr>
          <p:cNvPr id="18" name="Text 16"/>
          <p:cNvSpPr/>
          <p:nvPr/>
        </p:nvSpPr>
        <p:spPr>
          <a:xfrm>
            <a:off x="4645152" y="4892040"/>
            <a:ext cx="3063240" cy="118872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Missed only 91 phishing emails in 8,569 — better than any other model tested.</a:t>
            </a:r>
            <a:endParaRPr lang="en-US" sz="1200" dirty="0"/>
          </a:p>
        </p:txBody>
      </p:sp>
      <p:sp>
        <p:nvSpPr>
          <p:cNvPr id="19" name="Shape 17"/>
          <p:cNvSpPr/>
          <p:nvPr/>
        </p:nvSpPr>
        <p:spPr>
          <a:xfrm>
            <a:off x="8010144" y="4434840"/>
            <a:ext cx="3520440" cy="1737360"/>
          </a:xfrm>
          <a:prstGeom prst="roundRect">
            <a:avLst>
              <a:gd name="adj" fmla="val 2632"/>
            </a:avLst>
          </a:prstGeom>
          <a:solidFill>
            <a:srgbClr val="F8F9FA"/>
          </a:solidFill>
          <a:ln/>
        </p:spPr>
      </p:sp>
      <p:sp>
        <p:nvSpPr>
          <p:cNvPr id="20" name="Shape 18"/>
          <p:cNvSpPr/>
          <p:nvPr/>
        </p:nvSpPr>
        <p:spPr>
          <a:xfrm>
            <a:off x="8010144" y="4434840"/>
            <a:ext cx="137160" cy="1737360"/>
          </a:xfrm>
          <a:prstGeom prst="rect">
            <a:avLst/>
          </a:prstGeom>
          <a:solidFill>
            <a:srgbClr val="E63946"/>
          </a:solidFill>
          <a:ln/>
        </p:spPr>
      </p:sp>
      <p:sp>
        <p:nvSpPr>
          <p:cNvPr id="21" name="Text 19"/>
          <p:cNvSpPr/>
          <p:nvPr/>
        </p:nvSpPr>
        <p:spPr>
          <a:xfrm>
            <a:off x="8330184" y="4526280"/>
            <a:ext cx="3063240" cy="365760"/>
          </a:xfrm>
          <a:prstGeom prst="rect">
            <a:avLst/>
          </a:prstGeom>
          <a:noFill/>
          <a:ln/>
        </p:spPr>
        <p:txBody>
          <a:bodyPr wrap="square" lIns="0" tIns="0" rIns="0" bIns="0" rtlCol="0" anchor="t"/>
          <a:lstStyle/>
          <a:p>
            <a:pPr algn="l" indent="0" marL="0">
              <a:buNone/>
            </a:pPr>
            <a:r>
              <a:rPr lang="en-US" sz="1400" b="1" dirty="0">
                <a:solidFill>
                  <a:srgbClr val="0F2942"/>
                </a:solidFill>
                <a:latin typeface="Cambria" pitchFamily="34" charset="0"/>
                <a:ea typeface="Cambria" pitchFamily="34" charset="-122"/>
                <a:cs typeface="Cambria" pitchFamily="34" charset="-120"/>
              </a:rPr>
              <a:t>Non-Linear Signal</a:t>
            </a:r>
            <a:endParaRPr lang="en-US" sz="1400" dirty="0"/>
          </a:p>
        </p:txBody>
      </p:sp>
      <p:sp>
        <p:nvSpPr>
          <p:cNvPr id="22" name="Text 20"/>
          <p:cNvSpPr/>
          <p:nvPr/>
        </p:nvSpPr>
        <p:spPr>
          <a:xfrm>
            <a:off x="8330184" y="4892040"/>
            <a:ext cx="3063240" cy="118872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Captures feature interactions linear and simple probabilistic models cannot.</a:t>
            </a:r>
            <a:endParaRPr lang="en-US" sz="12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24" name="Text 2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F2942"/>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6</a:t>
            </a:r>
            <a:endParaRPr lang="en-US" sz="2400" dirty="0"/>
          </a:p>
        </p:txBody>
      </p:sp>
      <p:sp>
        <p:nvSpPr>
          <p:cNvPr id="4" name="Text 2"/>
          <p:cNvSpPr/>
          <p:nvPr/>
        </p:nvSpPr>
        <p:spPr>
          <a:xfrm>
            <a:off x="1097280" y="457200"/>
            <a:ext cx="10515600" cy="457200"/>
          </a:xfrm>
          <a:prstGeom prst="rect">
            <a:avLst/>
          </a:prstGeom>
          <a:noFill/>
          <a:ln/>
        </p:spPr>
        <p:txBody>
          <a:bodyPr wrap="square" lIns="0" tIns="0" rIns="0" bIns="0" rtlCol="0" anchor="ctr"/>
          <a:lstStyle/>
          <a:p>
            <a:pPr algn="l" indent="0" marL="0">
              <a:buNone/>
            </a:pPr>
            <a:r>
              <a:rPr lang="en-US" sz="2600" b="1" dirty="0">
                <a:solidFill>
                  <a:srgbClr val="0F2942"/>
                </a:solidFill>
                <a:latin typeface="Cambria" pitchFamily="34" charset="0"/>
                <a:ea typeface="Cambria" pitchFamily="34" charset="-122"/>
                <a:cs typeface="Cambria" pitchFamily="34" charset="-120"/>
              </a:rPr>
              <a:t>Limitations &amp; Future Work</a:t>
            </a:r>
            <a:endParaRPr lang="en-US" sz="2600" dirty="0"/>
          </a:p>
        </p:txBody>
      </p:sp>
      <p:sp>
        <p:nvSpPr>
          <p:cNvPr id="5" name="Shape 3"/>
          <p:cNvSpPr/>
          <p:nvPr/>
        </p:nvSpPr>
        <p:spPr>
          <a:xfrm>
            <a:off x="457200" y="1051560"/>
            <a:ext cx="11247120" cy="0"/>
          </a:xfrm>
          <a:prstGeom prst="line">
            <a:avLst/>
          </a:prstGeom>
          <a:noFill/>
          <a:ln w="12700">
            <a:solidFill>
              <a:srgbClr val="DEE2E6"/>
            </a:solidFill>
            <a:prstDash val="solid"/>
          </a:ln>
        </p:spPr>
      </p:sp>
      <p:sp>
        <p:nvSpPr>
          <p:cNvPr id="6" name="Shape 4"/>
          <p:cNvSpPr/>
          <p:nvPr/>
        </p:nvSpPr>
        <p:spPr>
          <a:xfrm>
            <a:off x="640080" y="1508760"/>
            <a:ext cx="640080" cy="640080"/>
          </a:xfrm>
          <a:prstGeom prst="ellipse">
            <a:avLst/>
          </a:prstGeom>
          <a:solidFill>
            <a:srgbClr val="F4A261"/>
          </a:solidFill>
          <a:ln/>
        </p:spPr>
      </p:sp>
      <p:sp>
        <p:nvSpPr>
          <p:cNvPr id="7" name="Text 5"/>
          <p:cNvSpPr/>
          <p:nvPr/>
        </p:nvSpPr>
        <p:spPr>
          <a:xfrm>
            <a:off x="640080" y="15087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8" name="Text 6"/>
          <p:cNvSpPr/>
          <p:nvPr/>
        </p:nvSpPr>
        <p:spPr>
          <a:xfrm>
            <a:off x="1463040" y="1463040"/>
            <a:ext cx="10058400" cy="365760"/>
          </a:xfrm>
          <a:prstGeom prst="rect">
            <a:avLst/>
          </a:prstGeom>
          <a:noFill/>
          <a:ln/>
        </p:spPr>
        <p:txBody>
          <a:bodyPr wrap="square" lIns="0" tIns="0" rIns="0" bIns="0" rtlCol="0" anchor="ctr"/>
          <a:lstStyle/>
          <a:p>
            <a:pPr algn="l" indent="0" marL="0">
              <a:buNone/>
            </a:pPr>
            <a:r>
              <a:rPr lang="en-US" sz="1500" b="1" dirty="0">
                <a:solidFill>
                  <a:srgbClr val="0F2942"/>
                </a:solidFill>
                <a:latin typeface="Cambria" pitchFamily="34" charset="0"/>
                <a:ea typeface="Cambria" pitchFamily="34" charset="-122"/>
                <a:cs typeface="Cambria" pitchFamily="34" charset="-120"/>
              </a:rPr>
              <a:t>Source Leakage in Features</a:t>
            </a:r>
            <a:endParaRPr lang="en-US" sz="1500" dirty="0"/>
          </a:p>
        </p:txBody>
      </p:sp>
      <p:sp>
        <p:nvSpPr>
          <p:cNvPr id="9" name="Text 7"/>
          <p:cNvSpPr/>
          <p:nvPr/>
        </p:nvSpPr>
        <p:spPr>
          <a:xfrm>
            <a:off x="1463040" y="1828800"/>
            <a:ext cx="10058400" cy="45720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Top features are partly dataset artefacts. Cross-domain evaluation needed to test true generalisation.</a:t>
            </a:r>
            <a:endParaRPr lang="en-US" sz="1200" dirty="0"/>
          </a:p>
        </p:txBody>
      </p:sp>
      <p:sp>
        <p:nvSpPr>
          <p:cNvPr id="10" name="Shape 8"/>
          <p:cNvSpPr/>
          <p:nvPr/>
        </p:nvSpPr>
        <p:spPr>
          <a:xfrm>
            <a:off x="640080" y="2441448"/>
            <a:ext cx="640080" cy="640080"/>
          </a:xfrm>
          <a:prstGeom prst="ellipse">
            <a:avLst/>
          </a:prstGeom>
          <a:solidFill>
            <a:srgbClr val="1C7293"/>
          </a:solidFill>
          <a:ln/>
        </p:spPr>
      </p:sp>
      <p:sp>
        <p:nvSpPr>
          <p:cNvPr id="11" name="Text 9"/>
          <p:cNvSpPr/>
          <p:nvPr/>
        </p:nvSpPr>
        <p:spPr>
          <a:xfrm>
            <a:off x="640080" y="2441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12" name="Text 10"/>
          <p:cNvSpPr/>
          <p:nvPr/>
        </p:nvSpPr>
        <p:spPr>
          <a:xfrm>
            <a:off x="1463040" y="2395728"/>
            <a:ext cx="10058400" cy="365760"/>
          </a:xfrm>
          <a:prstGeom prst="rect">
            <a:avLst/>
          </a:prstGeom>
          <a:noFill/>
          <a:ln/>
        </p:spPr>
        <p:txBody>
          <a:bodyPr wrap="square" lIns="0" tIns="0" rIns="0" bIns="0" rtlCol="0" anchor="ctr"/>
          <a:lstStyle/>
          <a:p>
            <a:pPr algn="l" indent="0" marL="0">
              <a:buNone/>
            </a:pPr>
            <a:r>
              <a:rPr lang="en-US" sz="1500" b="1" dirty="0">
                <a:solidFill>
                  <a:srgbClr val="0F2942"/>
                </a:solidFill>
                <a:latin typeface="Cambria" pitchFamily="34" charset="0"/>
                <a:ea typeface="Cambria" pitchFamily="34" charset="-122"/>
                <a:cs typeface="Cambria" pitchFamily="34" charset="-120"/>
              </a:rPr>
              <a:t>Structural Features Missing</a:t>
            </a:r>
            <a:endParaRPr lang="en-US" sz="1500" dirty="0"/>
          </a:p>
        </p:txBody>
      </p:sp>
      <p:sp>
        <p:nvSpPr>
          <p:cNvPr id="13" name="Text 11"/>
          <p:cNvSpPr/>
          <p:nvPr/>
        </p:nvSpPr>
        <p:spPr>
          <a:xfrm>
            <a:off x="1463040" y="2761488"/>
            <a:ext cx="10058400" cy="45720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URLs and HTML pre-stripped from dataset. Working from raw emails would enable URL count, tag density, punctuation features.</a:t>
            </a:r>
            <a:endParaRPr lang="en-US" sz="1200" dirty="0"/>
          </a:p>
        </p:txBody>
      </p:sp>
      <p:sp>
        <p:nvSpPr>
          <p:cNvPr id="14" name="Shape 12"/>
          <p:cNvSpPr/>
          <p:nvPr/>
        </p:nvSpPr>
        <p:spPr>
          <a:xfrm>
            <a:off x="640080" y="3374136"/>
            <a:ext cx="640080" cy="640080"/>
          </a:xfrm>
          <a:prstGeom prst="ellipse">
            <a:avLst/>
          </a:prstGeom>
          <a:solidFill>
            <a:srgbClr val="2A9D8F"/>
          </a:solidFill>
          <a:ln/>
        </p:spPr>
      </p:sp>
      <p:sp>
        <p:nvSpPr>
          <p:cNvPr id="15" name="Text 13"/>
          <p:cNvSpPr/>
          <p:nvPr/>
        </p:nvSpPr>
        <p:spPr>
          <a:xfrm>
            <a:off x="640080" y="3374136"/>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16" name="Text 14"/>
          <p:cNvSpPr/>
          <p:nvPr/>
        </p:nvSpPr>
        <p:spPr>
          <a:xfrm>
            <a:off x="1463040" y="3328416"/>
            <a:ext cx="10058400" cy="365760"/>
          </a:xfrm>
          <a:prstGeom prst="rect">
            <a:avLst/>
          </a:prstGeom>
          <a:noFill/>
          <a:ln/>
        </p:spPr>
        <p:txBody>
          <a:bodyPr wrap="square" lIns="0" tIns="0" rIns="0" bIns="0" rtlCol="0" anchor="ctr"/>
          <a:lstStyle/>
          <a:p>
            <a:pPr algn="l" indent="0" marL="0">
              <a:buNone/>
            </a:pPr>
            <a:r>
              <a:rPr lang="en-US" sz="1500" b="1" dirty="0">
                <a:solidFill>
                  <a:srgbClr val="0F2942"/>
                </a:solidFill>
                <a:latin typeface="Cambria" pitchFamily="34" charset="0"/>
                <a:ea typeface="Cambria" pitchFamily="34" charset="-122"/>
                <a:cs typeface="Cambria" pitchFamily="34" charset="-120"/>
              </a:rPr>
              <a:t>Single Train/Test Split</a:t>
            </a:r>
            <a:endParaRPr lang="en-US" sz="1500" dirty="0"/>
          </a:p>
        </p:txBody>
      </p:sp>
      <p:sp>
        <p:nvSpPr>
          <p:cNvPr id="17" name="Text 15"/>
          <p:cNvSpPr/>
          <p:nvPr/>
        </p:nvSpPr>
        <p:spPr>
          <a:xfrm>
            <a:off x="1463040" y="3694176"/>
            <a:ext cx="10058400" cy="45720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K-fold cross-validation would give more robust performance estimates with confidence intervals.</a:t>
            </a:r>
            <a:endParaRPr lang="en-US" sz="1200" dirty="0"/>
          </a:p>
        </p:txBody>
      </p:sp>
      <p:sp>
        <p:nvSpPr>
          <p:cNvPr id="18" name="Shape 16"/>
          <p:cNvSpPr/>
          <p:nvPr/>
        </p:nvSpPr>
        <p:spPr>
          <a:xfrm>
            <a:off x="640080" y="4306824"/>
            <a:ext cx="640080" cy="640080"/>
          </a:xfrm>
          <a:prstGeom prst="ellipse">
            <a:avLst/>
          </a:prstGeom>
          <a:solidFill>
            <a:srgbClr val="E63946"/>
          </a:solidFill>
          <a:ln/>
        </p:spPr>
      </p:sp>
      <p:sp>
        <p:nvSpPr>
          <p:cNvPr id="19" name="Text 17"/>
          <p:cNvSpPr/>
          <p:nvPr/>
        </p:nvSpPr>
        <p:spPr>
          <a:xfrm>
            <a:off x="640080" y="4306824"/>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20" name="Text 18"/>
          <p:cNvSpPr/>
          <p:nvPr/>
        </p:nvSpPr>
        <p:spPr>
          <a:xfrm>
            <a:off x="1463040" y="4261104"/>
            <a:ext cx="10058400" cy="365760"/>
          </a:xfrm>
          <a:prstGeom prst="rect">
            <a:avLst/>
          </a:prstGeom>
          <a:noFill/>
          <a:ln/>
        </p:spPr>
        <p:txBody>
          <a:bodyPr wrap="square" lIns="0" tIns="0" rIns="0" bIns="0" rtlCol="0" anchor="ctr"/>
          <a:lstStyle/>
          <a:p>
            <a:pPr algn="l" indent="0" marL="0">
              <a:buNone/>
            </a:pPr>
            <a:r>
              <a:rPr lang="en-US" sz="1500" b="1" dirty="0">
                <a:solidFill>
                  <a:srgbClr val="0F2942"/>
                </a:solidFill>
                <a:latin typeface="Cambria" pitchFamily="34" charset="0"/>
                <a:ea typeface="Cambria" pitchFamily="34" charset="-122"/>
                <a:cs typeface="Cambria" pitchFamily="34" charset="-120"/>
              </a:rPr>
              <a:t>No Transformer Baseline</a:t>
            </a:r>
            <a:endParaRPr lang="en-US" sz="1500" dirty="0"/>
          </a:p>
        </p:txBody>
      </p:sp>
      <p:sp>
        <p:nvSpPr>
          <p:cNvPr id="21" name="Text 19"/>
          <p:cNvSpPr/>
          <p:nvPr/>
        </p:nvSpPr>
        <p:spPr>
          <a:xfrm>
            <a:off x="1463040" y="4626864"/>
            <a:ext cx="10058400" cy="45720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Fine-tuning DistilBERT or similar would test whether classical ML has hit a ceiling on this task.</a:t>
            </a:r>
            <a:endParaRPr lang="en-US" sz="1200" dirty="0"/>
          </a:p>
        </p:txBody>
      </p:sp>
      <p:sp>
        <p:nvSpPr>
          <p:cNvPr id="22" name="Shape 20"/>
          <p:cNvSpPr/>
          <p:nvPr/>
        </p:nvSpPr>
        <p:spPr>
          <a:xfrm>
            <a:off x="640080" y="5239512"/>
            <a:ext cx="640080" cy="640080"/>
          </a:xfrm>
          <a:prstGeom prst="ellipse">
            <a:avLst/>
          </a:prstGeom>
          <a:solidFill>
            <a:srgbClr val="0F2942"/>
          </a:solidFill>
          <a:ln/>
        </p:spPr>
      </p:sp>
      <p:sp>
        <p:nvSpPr>
          <p:cNvPr id="23" name="Text 21"/>
          <p:cNvSpPr/>
          <p:nvPr/>
        </p:nvSpPr>
        <p:spPr>
          <a:xfrm>
            <a:off x="640080" y="523951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24" name="Text 22"/>
          <p:cNvSpPr/>
          <p:nvPr/>
        </p:nvSpPr>
        <p:spPr>
          <a:xfrm>
            <a:off x="1463040" y="5193792"/>
            <a:ext cx="10058400" cy="365760"/>
          </a:xfrm>
          <a:prstGeom prst="rect">
            <a:avLst/>
          </a:prstGeom>
          <a:noFill/>
          <a:ln/>
        </p:spPr>
        <p:txBody>
          <a:bodyPr wrap="square" lIns="0" tIns="0" rIns="0" bIns="0" rtlCol="0" anchor="ctr"/>
          <a:lstStyle/>
          <a:p>
            <a:pPr algn="l" indent="0" marL="0">
              <a:buNone/>
            </a:pPr>
            <a:r>
              <a:rPr lang="en-US" sz="1500" b="1" dirty="0">
                <a:solidFill>
                  <a:srgbClr val="0F2942"/>
                </a:solidFill>
                <a:latin typeface="Cambria" pitchFamily="34" charset="0"/>
                <a:ea typeface="Cambria" pitchFamily="34" charset="-122"/>
                <a:cs typeface="Cambria" pitchFamily="34" charset="-120"/>
              </a:rPr>
              <a:t>No Live Deployment</a:t>
            </a:r>
            <a:endParaRPr lang="en-US" sz="1500" dirty="0"/>
          </a:p>
        </p:txBody>
      </p:sp>
      <p:sp>
        <p:nvSpPr>
          <p:cNvPr id="25" name="Text 23"/>
          <p:cNvSpPr/>
          <p:nvPr/>
        </p:nvSpPr>
        <p:spPr>
          <a:xfrm>
            <a:off x="1463040" y="5559552"/>
            <a:ext cx="10058400" cy="457200"/>
          </a:xfrm>
          <a:prstGeom prst="rect">
            <a:avLst/>
          </a:prstGeom>
          <a:noFill/>
          <a:ln/>
        </p:spPr>
        <p:txBody>
          <a:bodyPr wrap="square" lIns="0" tIns="0" rIns="0" bIns="0" rtlCol="0" anchor="t"/>
          <a:lstStyle/>
          <a:p>
            <a:pPr algn="l" indent="0" marL="0">
              <a:buNone/>
            </a:pPr>
            <a:r>
              <a:rPr lang="en-US" sz="1200" dirty="0">
                <a:solidFill>
                  <a:srgbClr val="1D3557"/>
                </a:solidFill>
                <a:latin typeface="Calibri" pitchFamily="34" charset="0"/>
                <a:ea typeface="Calibri" pitchFamily="34" charset="-122"/>
                <a:cs typeface="Calibri" pitchFamily="34" charset="-120"/>
              </a:rPr>
              <a:t>A Streamlit web interface would demonstrate end-to-end usability — logical next step.</a:t>
            </a:r>
            <a:endParaRPr lang="en-US" sz="1200" dirty="0"/>
          </a:p>
        </p:txBody>
      </p:sp>
      <p:sp>
        <p:nvSpPr>
          <p:cNvPr id="26" name="Text 24"/>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C757D"/>
                </a:solidFill>
                <a:latin typeface="Calibri" pitchFamily="34" charset="0"/>
                <a:ea typeface="Calibri" pitchFamily="34" charset="-122"/>
                <a:cs typeface="Calibri" pitchFamily="34" charset="-120"/>
              </a:rPr>
              <a:t>Vetry Shaji  |  Enrollment 942476  |  IICT Internship</a:t>
            </a:r>
            <a:endParaRPr lang="en-US" sz="900" dirty="0"/>
          </a:p>
        </p:txBody>
      </p:sp>
      <p:sp>
        <p:nvSpPr>
          <p:cNvPr id="27" name="Text 25"/>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942"/>
        </a:solidFill>
      </p:bgPr>
    </p:bg>
    <p:spTree>
      <p:nvGrpSpPr>
        <p:cNvPr id="1" name=""/>
        <p:cNvGrpSpPr/>
        <p:nvPr/>
      </p:nvGrpSpPr>
      <p:grpSpPr>
        <a:xfrm>
          <a:off x="0" y="0"/>
          <a:ext cx="0" cy="0"/>
          <a:chOff x="0" y="0"/>
          <a:chExt cx="0" cy="0"/>
        </a:xfrm>
      </p:grpSpPr>
      <p:sp>
        <p:nvSpPr>
          <p:cNvPr id="2" name="Shape 0"/>
          <p:cNvSpPr/>
          <p:nvPr/>
        </p:nvSpPr>
        <p:spPr>
          <a:xfrm>
            <a:off x="0" y="2194560"/>
            <a:ext cx="12188952" cy="54864"/>
          </a:xfrm>
          <a:prstGeom prst="rect">
            <a:avLst/>
          </a:prstGeom>
          <a:solidFill>
            <a:srgbClr val="2A9D8F"/>
          </a:solidFill>
          <a:ln/>
        </p:spPr>
      </p:sp>
      <p:sp>
        <p:nvSpPr>
          <p:cNvPr id="3" name="Shape 1"/>
          <p:cNvSpPr/>
          <p:nvPr/>
        </p:nvSpPr>
        <p:spPr>
          <a:xfrm>
            <a:off x="0" y="4754880"/>
            <a:ext cx="12188952" cy="54864"/>
          </a:xfrm>
          <a:prstGeom prst="rect">
            <a:avLst/>
          </a:prstGeom>
          <a:solidFill>
            <a:srgbClr val="E63946"/>
          </a:solidFill>
          <a:ln/>
        </p:spPr>
      </p:sp>
      <p:sp>
        <p:nvSpPr>
          <p:cNvPr id="4" name="Text 2"/>
          <p:cNvSpPr/>
          <p:nvPr/>
        </p:nvSpPr>
        <p:spPr>
          <a:xfrm>
            <a:off x="640080" y="640080"/>
            <a:ext cx="10972800" cy="6400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Conclusion</a:t>
            </a:r>
            <a:endParaRPr lang="en-US" sz="4000" dirty="0"/>
          </a:p>
        </p:txBody>
      </p:sp>
      <p:sp>
        <p:nvSpPr>
          <p:cNvPr id="5" name="Text 3"/>
          <p:cNvSpPr/>
          <p:nvPr/>
        </p:nvSpPr>
        <p:spPr>
          <a:xfrm>
            <a:off x="640080" y="1371600"/>
            <a:ext cx="10972800" cy="457200"/>
          </a:xfrm>
          <a:prstGeom prst="rect">
            <a:avLst/>
          </a:prstGeom>
          <a:noFill/>
          <a:ln/>
        </p:spPr>
        <p:txBody>
          <a:bodyPr wrap="square" lIns="0" tIns="0" rIns="0" bIns="0" rtlCol="0" anchor="ctr"/>
          <a:lstStyle/>
          <a:p>
            <a:pPr algn="l" indent="0" marL="0">
              <a:buNone/>
            </a:pPr>
            <a:r>
              <a:rPr lang="en-US" sz="1800" i="1" dirty="0">
                <a:solidFill>
                  <a:srgbClr val="CADCFC"/>
                </a:solidFill>
                <a:latin typeface="Calibri" pitchFamily="34" charset="0"/>
                <a:ea typeface="Calibri" pitchFamily="34" charset="-122"/>
                <a:cs typeface="Calibri" pitchFamily="34" charset="-120"/>
              </a:rPr>
              <a:t>Four ML models compared on 82,190 emails. All achieved F1 &gt; 0.95.</a:t>
            </a:r>
            <a:endParaRPr lang="en-US" sz="1800" dirty="0"/>
          </a:p>
        </p:txBody>
      </p:sp>
      <p:sp>
        <p:nvSpPr>
          <p:cNvPr id="6" name="Shape 4"/>
          <p:cNvSpPr/>
          <p:nvPr/>
        </p:nvSpPr>
        <p:spPr>
          <a:xfrm>
            <a:off x="512064" y="2514600"/>
            <a:ext cx="3611880" cy="2011680"/>
          </a:xfrm>
          <a:prstGeom prst="roundRect">
            <a:avLst>
              <a:gd name="adj" fmla="val 3636"/>
            </a:avLst>
          </a:prstGeom>
          <a:solidFill>
            <a:srgbClr val="FFFFFF"/>
          </a:solidFill>
          <a:ln/>
        </p:spPr>
      </p:sp>
      <p:sp>
        <p:nvSpPr>
          <p:cNvPr id="7" name="Shape 5"/>
          <p:cNvSpPr/>
          <p:nvPr/>
        </p:nvSpPr>
        <p:spPr>
          <a:xfrm>
            <a:off x="512064" y="2514600"/>
            <a:ext cx="3611880" cy="109728"/>
          </a:xfrm>
          <a:prstGeom prst="rect">
            <a:avLst/>
          </a:prstGeom>
          <a:solidFill>
            <a:srgbClr val="2A9D8F"/>
          </a:solidFill>
          <a:ln/>
        </p:spPr>
      </p:sp>
      <p:sp>
        <p:nvSpPr>
          <p:cNvPr id="8" name="Text 6"/>
          <p:cNvSpPr/>
          <p:nvPr/>
        </p:nvSpPr>
        <p:spPr>
          <a:xfrm>
            <a:off x="694944" y="2788920"/>
            <a:ext cx="3246120" cy="82296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Random Forest</a:t>
            </a:r>
            <a:endParaRPr lang="en-US" sz="2200" dirty="0"/>
          </a:p>
        </p:txBody>
      </p:sp>
      <p:sp>
        <p:nvSpPr>
          <p:cNvPr id="9" name="Text 7"/>
          <p:cNvSpPr/>
          <p:nvPr/>
        </p:nvSpPr>
        <p:spPr>
          <a:xfrm>
            <a:off x="694944" y="3611880"/>
            <a:ext cx="3246120" cy="822960"/>
          </a:xfrm>
          <a:prstGeom prst="rect">
            <a:avLst/>
          </a:prstGeom>
          <a:noFill/>
          <a:ln/>
        </p:spPr>
        <p:txBody>
          <a:bodyPr wrap="square" lIns="0" tIns="0" rIns="0" bIns="0" rtlCol="0" anchor="t"/>
          <a:lstStyle/>
          <a:p>
            <a:pPr algn="l" indent="0" marL="0">
              <a:buNone/>
            </a:pPr>
            <a:r>
              <a:rPr lang="en-US" sz="1300" dirty="0">
                <a:solidFill>
                  <a:srgbClr val="CADCFC"/>
                </a:solidFill>
                <a:latin typeface="Calibri" pitchFamily="34" charset="0"/>
                <a:ea typeface="Calibri" pitchFamily="34" charset="-122"/>
                <a:cs typeface="Calibri" pitchFamily="34" charset="-120"/>
              </a:rPr>
              <a:t>is the recommended model for deployment</a:t>
            </a:r>
            <a:endParaRPr lang="en-US" sz="1300" dirty="0"/>
          </a:p>
        </p:txBody>
      </p:sp>
      <p:sp>
        <p:nvSpPr>
          <p:cNvPr id="10" name="Shape 8"/>
          <p:cNvSpPr/>
          <p:nvPr/>
        </p:nvSpPr>
        <p:spPr>
          <a:xfrm>
            <a:off x="4288536" y="2514600"/>
            <a:ext cx="3611880" cy="2011680"/>
          </a:xfrm>
          <a:prstGeom prst="roundRect">
            <a:avLst>
              <a:gd name="adj" fmla="val 3636"/>
            </a:avLst>
          </a:prstGeom>
          <a:solidFill>
            <a:srgbClr val="FFFFFF"/>
          </a:solidFill>
          <a:ln/>
        </p:spPr>
      </p:sp>
      <p:sp>
        <p:nvSpPr>
          <p:cNvPr id="11" name="Shape 9"/>
          <p:cNvSpPr/>
          <p:nvPr/>
        </p:nvSpPr>
        <p:spPr>
          <a:xfrm>
            <a:off x="4288536" y="2514600"/>
            <a:ext cx="3611880" cy="109728"/>
          </a:xfrm>
          <a:prstGeom prst="rect">
            <a:avLst/>
          </a:prstGeom>
          <a:solidFill>
            <a:srgbClr val="F4A261"/>
          </a:solidFill>
          <a:ln/>
        </p:spPr>
      </p:sp>
      <p:sp>
        <p:nvSpPr>
          <p:cNvPr id="12" name="Text 10"/>
          <p:cNvSpPr/>
          <p:nvPr/>
        </p:nvSpPr>
        <p:spPr>
          <a:xfrm>
            <a:off x="4471416" y="2788920"/>
            <a:ext cx="3246120" cy="82296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91 / 8,569</a:t>
            </a:r>
            <a:endParaRPr lang="en-US" sz="2200" dirty="0"/>
          </a:p>
        </p:txBody>
      </p:sp>
      <p:sp>
        <p:nvSpPr>
          <p:cNvPr id="13" name="Text 11"/>
          <p:cNvSpPr/>
          <p:nvPr/>
        </p:nvSpPr>
        <p:spPr>
          <a:xfrm>
            <a:off x="4471416" y="3611880"/>
            <a:ext cx="3246120" cy="822960"/>
          </a:xfrm>
          <a:prstGeom prst="rect">
            <a:avLst/>
          </a:prstGeom>
          <a:noFill/>
          <a:ln/>
        </p:spPr>
        <p:txBody>
          <a:bodyPr wrap="square" lIns="0" tIns="0" rIns="0" bIns="0" rtlCol="0" anchor="t"/>
          <a:lstStyle/>
          <a:p>
            <a:pPr algn="l" indent="0" marL="0">
              <a:buNone/>
            </a:pPr>
            <a:r>
              <a:rPr lang="en-US" sz="1300" dirty="0">
                <a:solidFill>
                  <a:srgbClr val="CADCFC"/>
                </a:solidFill>
                <a:latin typeface="Calibri" pitchFamily="34" charset="0"/>
                <a:ea typeface="Calibri" pitchFamily="34" charset="-122"/>
                <a:cs typeface="Calibri" pitchFamily="34" charset="-120"/>
              </a:rPr>
              <a:t>phishing emails missed — the lowest false negative rate</a:t>
            </a:r>
            <a:endParaRPr lang="en-US" sz="1300" dirty="0"/>
          </a:p>
        </p:txBody>
      </p:sp>
      <p:sp>
        <p:nvSpPr>
          <p:cNvPr id="14" name="Shape 12"/>
          <p:cNvSpPr/>
          <p:nvPr/>
        </p:nvSpPr>
        <p:spPr>
          <a:xfrm>
            <a:off x="8065008" y="2514600"/>
            <a:ext cx="3611880" cy="2011680"/>
          </a:xfrm>
          <a:prstGeom prst="roundRect">
            <a:avLst>
              <a:gd name="adj" fmla="val 3636"/>
            </a:avLst>
          </a:prstGeom>
          <a:solidFill>
            <a:srgbClr val="FFFFFF"/>
          </a:solidFill>
          <a:ln/>
        </p:spPr>
      </p:sp>
      <p:sp>
        <p:nvSpPr>
          <p:cNvPr id="15" name="Shape 13"/>
          <p:cNvSpPr/>
          <p:nvPr/>
        </p:nvSpPr>
        <p:spPr>
          <a:xfrm>
            <a:off x="8065008" y="2514600"/>
            <a:ext cx="3611880" cy="109728"/>
          </a:xfrm>
          <a:prstGeom prst="rect">
            <a:avLst/>
          </a:prstGeom>
          <a:solidFill>
            <a:srgbClr val="E63946"/>
          </a:solidFill>
          <a:ln/>
        </p:spPr>
      </p:sp>
      <p:sp>
        <p:nvSpPr>
          <p:cNvPr id="16" name="Text 14"/>
          <p:cNvSpPr/>
          <p:nvPr/>
        </p:nvSpPr>
        <p:spPr>
          <a:xfrm>
            <a:off x="8247888" y="2788920"/>
            <a:ext cx="3246120" cy="82296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Source Leakage</a:t>
            </a:r>
            <a:endParaRPr lang="en-US" sz="2200" dirty="0"/>
          </a:p>
        </p:txBody>
      </p:sp>
      <p:sp>
        <p:nvSpPr>
          <p:cNvPr id="17" name="Text 15"/>
          <p:cNvSpPr/>
          <p:nvPr/>
        </p:nvSpPr>
        <p:spPr>
          <a:xfrm>
            <a:off x="8247888" y="3611880"/>
            <a:ext cx="3246120" cy="822960"/>
          </a:xfrm>
          <a:prstGeom prst="rect">
            <a:avLst/>
          </a:prstGeom>
          <a:noFill/>
          <a:ln/>
        </p:spPr>
        <p:txBody>
          <a:bodyPr wrap="square" lIns="0" tIns="0" rIns="0" bIns="0" rtlCol="0" anchor="t"/>
          <a:lstStyle/>
          <a:p>
            <a:pPr algn="l" indent="0" marL="0">
              <a:buNone/>
            </a:pPr>
            <a:r>
              <a:rPr lang="en-US" sz="1300" dirty="0">
                <a:solidFill>
                  <a:srgbClr val="CADCFC"/>
                </a:solidFill>
                <a:latin typeface="Calibri" pitchFamily="34" charset="0"/>
                <a:ea typeface="Calibri" pitchFamily="34" charset="-122"/>
                <a:cs typeface="Calibri" pitchFamily="34" charset="-120"/>
              </a:rPr>
              <a:t>is an honest limitation worth further investigation</a:t>
            </a:r>
            <a:endParaRPr lang="en-US" sz="1300" dirty="0"/>
          </a:p>
        </p:txBody>
      </p:sp>
      <p:sp>
        <p:nvSpPr>
          <p:cNvPr id="18" name="Text 16"/>
          <p:cNvSpPr/>
          <p:nvPr/>
        </p:nvSpPr>
        <p:spPr>
          <a:xfrm>
            <a:off x="640080" y="5029200"/>
            <a:ext cx="10972800" cy="640080"/>
          </a:xfrm>
          <a:prstGeom prst="rect">
            <a:avLst/>
          </a:prstGeom>
          <a:noFill/>
          <a:ln/>
        </p:spPr>
        <p:txBody>
          <a:bodyPr wrap="square" lIns="0" tIns="0" rIns="0" bIns="0" rtlCol="0" anchor="ctr"/>
          <a:lstStyle/>
          <a:p>
            <a:pPr algn="ctr" indent="0" marL="0">
              <a:buNone/>
            </a:pPr>
            <a:r>
              <a:rPr lang="en-US" sz="3400" b="1" i="1" dirty="0">
                <a:solidFill>
                  <a:srgbClr val="FFFFFF"/>
                </a:solidFill>
                <a:latin typeface="Cambria" pitchFamily="34" charset="0"/>
                <a:ea typeface="Cambria" pitchFamily="34" charset="-122"/>
                <a:cs typeface="Cambria" pitchFamily="34" charset="-120"/>
              </a:rPr>
              <a:t>Thank You</a:t>
            </a:r>
            <a:endParaRPr lang="en-US" sz="3400" dirty="0"/>
          </a:p>
        </p:txBody>
      </p:sp>
      <p:sp>
        <p:nvSpPr>
          <p:cNvPr id="19" name="Text 17"/>
          <p:cNvSpPr/>
          <p:nvPr/>
        </p:nvSpPr>
        <p:spPr>
          <a:xfrm>
            <a:off x="640080" y="5669280"/>
            <a:ext cx="10972800" cy="365760"/>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Questions &amp; Discussion</a:t>
            </a:r>
            <a:endParaRPr lang="en-US" sz="1600" dirty="0"/>
          </a:p>
        </p:txBody>
      </p:sp>
      <p:sp>
        <p:nvSpPr>
          <p:cNvPr id="20" name="Text 18"/>
          <p:cNvSpPr/>
          <p:nvPr/>
        </p:nvSpPr>
        <p:spPr>
          <a:xfrm>
            <a:off x="640080" y="6309360"/>
            <a:ext cx="10972800" cy="274320"/>
          </a:xfrm>
          <a:prstGeom prst="rect">
            <a:avLst/>
          </a:prstGeom>
          <a:noFill/>
          <a:ln/>
        </p:spPr>
        <p:txBody>
          <a:bodyPr wrap="square" lIns="0" tIns="0" rIns="0" bIns="0" rtlCol="0" anchor="ctr"/>
          <a:lstStyle/>
          <a:p>
            <a:pPr algn="ctr" indent="0" marL="0">
              <a:buNone/>
            </a:pPr>
            <a:r>
              <a:rPr lang="en-US" sz="1000" i="1" dirty="0">
                <a:solidFill>
                  <a:srgbClr val="7A9AC5"/>
                </a:solidFill>
                <a:latin typeface="Calibri" pitchFamily="34" charset="0"/>
                <a:ea typeface="Calibri" pitchFamily="34" charset="-122"/>
                <a:cs typeface="Calibri" pitchFamily="34" charset="-120"/>
              </a:rPr>
              <a:t>Vetry Shaji  |  Enrollment 942476  |  Chinmaya Vishwa Vidyapeeth  |  IICT Internship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Chinmaya Vishwa Vidyapeeth / IICT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Phishing Email Detection Using NLP</dc:title>
  <dc:subject>PptxGenJS Presentation</dc:subject>
  <dc:creator>Vetry Shaji</dc:creator>
  <cp:lastModifiedBy>Vetry Shaji</cp:lastModifiedBy>
  <cp:revision>1</cp:revision>
  <dcterms:created xsi:type="dcterms:W3CDTF">2026-07-20T09:16:14Z</dcterms:created>
  <dcterms:modified xsi:type="dcterms:W3CDTF">2026-07-20T09:16:14Z</dcterms:modified>
</cp:coreProperties>
</file>